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44"/>
  </p:notesMasterIdLst>
  <p:sldIdLst>
    <p:sldId id="727" r:id="rId2"/>
    <p:sldId id="900" r:id="rId3"/>
    <p:sldId id="430" r:id="rId4"/>
    <p:sldId id="412" r:id="rId5"/>
    <p:sldId id="445" r:id="rId6"/>
    <p:sldId id="415" r:id="rId7"/>
    <p:sldId id="256" r:id="rId8"/>
    <p:sldId id="446" r:id="rId9"/>
    <p:sldId id="378" r:id="rId10"/>
    <p:sldId id="379" r:id="rId11"/>
    <p:sldId id="380" r:id="rId12"/>
    <p:sldId id="381" r:id="rId13"/>
    <p:sldId id="382" r:id="rId14"/>
    <p:sldId id="447" r:id="rId15"/>
    <p:sldId id="384" r:id="rId16"/>
    <p:sldId id="386" r:id="rId17"/>
    <p:sldId id="440" r:id="rId18"/>
    <p:sldId id="387" r:id="rId19"/>
    <p:sldId id="388" r:id="rId20"/>
    <p:sldId id="393" r:id="rId21"/>
    <p:sldId id="452" r:id="rId22"/>
    <p:sldId id="414" r:id="rId23"/>
    <p:sldId id="902" r:id="rId24"/>
    <p:sldId id="389" r:id="rId25"/>
    <p:sldId id="903" r:id="rId26"/>
    <p:sldId id="904" r:id="rId27"/>
    <p:sldId id="905" r:id="rId28"/>
    <p:sldId id="906" r:id="rId29"/>
    <p:sldId id="449" r:id="rId30"/>
    <p:sldId id="338" r:id="rId31"/>
    <p:sldId id="907" r:id="rId32"/>
    <p:sldId id="908" r:id="rId33"/>
    <p:sldId id="400" r:id="rId34"/>
    <p:sldId id="910" r:id="rId35"/>
    <p:sldId id="911" r:id="rId36"/>
    <p:sldId id="261" r:id="rId37"/>
    <p:sldId id="399" r:id="rId38"/>
    <p:sldId id="451" r:id="rId39"/>
    <p:sldId id="401" r:id="rId40"/>
    <p:sldId id="441" r:id="rId41"/>
    <p:sldId id="402" r:id="rId42"/>
    <p:sldId id="416" r:id="rId43"/>
  </p:sldIdLst>
  <p:sldSz cx="12192000" cy="6858000"/>
  <p:notesSz cx="9144000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FF"/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0" autoAdjust="0"/>
    <p:restoredTop sz="93099" autoAdjust="0"/>
  </p:normalViewPr>
  <p:slideViewPr>
    <p:cSldViewPr>
      <p:cViewPr>
        <p:scale>
          <a:sx n="69" d="100"/>
          <a:sy n="69" d="100"/>
        </p:scale>
        <p:origin x="372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2933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87195DA-C8D4-4D1F-AF20-C12BB6DD0220}" type="datetimeFigureOut">
              <a:rPr lang="en-US"/>
              <a:pPr>
                <a:defRPr/>
              </a:pPr>
              <a:t>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EBB0408-F7D0-4348-886E-24DD55A4A6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1451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FD207A-07DF-40AD-A916-9872E089C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578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FD207A-07DF-40AD-A916-9872E089C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0350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C43AC-2B9A-4084-8180-136029B401D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57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FD207A-07DF-40AD-A916-9872E089C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4824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FD207A-07DF-40AD-A916-9872E089C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9438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FD207A-07DF-40AD-A916-9872E089C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1017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FD207A-07DF-40AD-A916-9872E089C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00013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FD207A-07DF-40AD-A916-9872E089C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318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D577E9-04AB-8F40-1FFC-21721C2C40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4516" t="34281"/>
          <a:stretch/>
        </p:blipFill>
        <p:spPr>
          <a:xfrm>
            <a:off x="0" y="0"/>
            <a:ext cx="1592903" cy="159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578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1">
            <a:extLst>
              <a:ext uri="{FF2B5EF4-FFF2-40B4-BE49-F238E27FC236}">
                <a16:creationId xmlns:a16="http://schemas.microsoft.com/office/drawing/2014/main" id="{281E447F-869A-4267-3AA2-C8366D490F31}"/>
              </a:ext>
            </a:extLst>
          </p:cNvPr>
          <p:cNvSpPr/>
          <p:nvPr userDrawn="1"/>
        </p:nvSpPr>
        <p:spPr>
          <a:xfrm>
            <a:off x="10210800" y="123615"/>
            <a:ext cx="1789709" cy="517524"/>
          </a:xfrm>
          <a:custGeom>
            <a:avLst/>
            <a:gdLst/>
            <a:ahLst/>
            <a:cxnLst/>
            <a:rect l="l" t="t" r="r" b="b"/>
            <a:pathLst>
              <a:path w="4103839" h="1186693">
                <a:moveTo>
                  <a:pt x="0" y="0"/>
                </a:moveTo>
                <a:lnTo>
                  <a:pt x="4103839" y="0"/>
                </a:lnTo>
                <a:lnTo>
                  <a:pt x="4103839" y="1186693"/>
                </a:lnTo>
                <a:lnTo>
                  <a:pt x="0" y="11866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9699F3-7312-A1A5-19CE-A9732832D5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4516" t="34281"/>
          <a:stretch/>
        </p:blipFill>
        <p:spPr>
          <a:xfrm>
            <a:off x="-152400" y="-97641"/>
            <a:ext cx="1592903" cy="159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732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1000" y="6515940"/>
            <a:ext cx="8585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96C92D-2906-2ED3-44B6-B56D943970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4516" t="34281"/>
          <a:stretch/>
        </p:blipFill>
        <p:spPr>
          <a:xfrm>
            <a:off x="0" y="0"/>
            <a:ext cx="1592903" cy="159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40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1">
            <a:extLst>
              <a:ext uri="{FF2B5EF4-FFF2-40B4-BE49-F238E27FC236}">
                <a16:creationId xmlns:a16="http://schemas.microsoft.com/office/drawing/2014/main" id="{EA0CFFF2-640D-9BDA-1667-5AB28269E8F4}"/>
              </a:ext>
            </a:extLst>
          </p:cNvPr>
          <p:cNvSpPr/>
          <p:nvPr userDrawn="1"/>
        </p:nvSpPr>
        <p:spPr>
          <a:xfrm>
            <a:off x="10210800" y="123615"/>
            <a:ext cx="1789709" cy="517524"/>
          </a:xfrm>
          <a:custGeom>
            <a:avLst/>
            <a:gdLst/>
            <a:ahLst/>
            <a:cxnLst/>
            <a:rect l="l" t="t" r="r" b="b"/>
            <a:pathLst>
              <a:path w="4103839" h="1186693">
                <a:moveTo>
                  <a:pt x="0" y="0"/>
                </a:moveTo>
                <a:lnTo>
                  <a:pt x="4103839" y="0"/>
                </a:lnTo>
                <a:lnTo>
                  <a:pt x="4103839" y="1186693"/>
                </a:lnTo>
                <a:lnTo>
                  <a:pt x="0" y="11866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020791"/>
            <a:ext cx="5689600" cy="545483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5713" y="1020791"/>
            <a:ext cx="5689600" cy="545483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8181F1-B47C-3E87-B472-EB14592855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4516" t="34281"/>
          <a:stretch/>
        </p:blipFill>
        <p:spPr>
          <a:xfrm>
            <a:off x="-152400" y="-97641"/>
            <a:ext cx="1592903" cy="159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552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1">
            <a:extLst>
              <a:ext uri="{FF2B5EF4-FFF2-40B4-BE49-F238E27FC236}">
                <a16:creationId xmlns:a16="http://schemas.microsoft.com/office/drawing/2014/main" id="{BDEA7943-8DF9-E0FC-533E-38BA54A5A838}"/>
              </a:ext>
            </a:extLst>
          </p:cNvPr>
          <p:cNvSpPr/>
          <p:nvPr userDrawn="1"/>
        </p:nvSpPr>
        <p:spPr>
          <a:xfrm>
            <a:off x="10210800" y="123615"/>
            <a:ext cx="1789709" cy="517524"/>
          </a:xfrm>
          <a:custGeom>
            <a:avLst/>
            <a:gdLst/>
            <a:ahLst/>
            <a:cxnLst/>
            <a:rect l="l" t="t" r="r" b="b"/>
            <a:pathLst>
              <a:path w="4103839" h="1186693">
                <a:moveTo>
                  <a:pt x="0" y="0"/>
                </a:moveTo>
                <a:lnTo>
                  <a:pt x="4103839" y="0"/>
                </a:lnTo>
                <a:lnTo>
                  <a:pt x="4103839" y="1186693"/>
                </a:lnTo>
                <a:lnTo>
                  <a:pt x="0" y="11866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884" y="1002102"/>
            <a:ext cx="5691596" cy="5218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8884" y="1535503"/>
            <a:ext cx="5691596" cy="49401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1522" y="1002102"/>
            <a:ext cx="5693832" cy="5218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1522" y="1535503"/>
            <a:ext cx="5693832" cy="49401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0297C1-EBD7-13F4-05EC-61AACBB753C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4516" t="34281"/>
          <a:stretch/>
        </p:blipFill>
        <p:spPr>
          <a:xfrm>
            <a:off x="-152400" y="-97641"/>
            <a:ext cx="1592903" cy="159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773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D5D753CD-AAA4-EB30-3C20-161F55252646}"/>
              </a:ext>
            </a:extLst>
          </p:cNvPr>
          <p:cNvSpPr/>
          <p:nvPr userDrawn="1"/>
        </p:nvSpPr>
        <p:spPr>
          <a:xfrm>
            <a:off x="10210800" y="123615"/>
            <a:ext cx="1789709" cy="517524"/>
          </a:xfrm>
          <a:custGeom>
            <a:avLst/>
            <a:gdLst/>
            <a:ahLst/>
            <a:cxnLst/>
            <a:rect l="l" t="t" r="r" b="b"/>
            <a:pathLst>
              <a:path w="4103839" h="1186693">
                <a:moveTo>
                  <a:pt x="0" y="0"/>
                </a:moveTo>
                <a:lnTo>
                  <a:pt x="4103839" y="0"/>
                </a:lnTo>
                <a:lnTo>
                  <a:pt x="4103839" y="1186693"/>
                </a:lnTo>
                <a:lnTo>
                  <a:pt x="0" y="11866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932CE-D3DD-DF0D-635C-A23373D7E1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4516" t="34281"/>
          <a:stretch/>
        </p:blipFill>
        <p:spPr>
          <a:xfrm>
            <a:off x="-152400" y="-97641"/>
            <a:ext cx="1592903" cy="159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238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71D5AA-C54E-8217-1195-CED07ED0EF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4516" t="34281"/>
          <a:stretch/>
        </p:blipFill>
        <p:spPr>
          <a:xfrm>
            <a:off x="-152400" y="-97641"/>
            <a:ext cx="1592903" cy="159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186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EC2D29-AC35-6874-43FE-C04E21D76C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4516" t="34281"/>
          <a:stretch/>
        </p:blipFill>
        <p:spPr>
          <a:xfrm>
            <a:off x="-152400" y="-97641"/>
            <a:ext cx="1592903" cy="159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168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F5C4908-D456-D112-42A7-C07301B5EF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4516" t="34281"/>
          <a:stretch/>
        </p:blipFill>
        <p:spPr>
          <a:xfrm>
            <a:off x="0" y="0"/>
            <a:ext cx="1592903" cy="159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248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50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33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8704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73012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6652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7933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18443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213976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04205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3410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>
            <a:extLst>
              <a:ext uri="{FF2B5EF4-FFF2-40B4-BE49-F238E27FC236}">
                <a16:creationId xmlns:a16="http://schemas.microsoft.com/office/drawing/2014/main" id="{B4433070-BB37-2832-6AA7-26F9EDB97062}"/>
              </a:ext>
            </a:extLst>
          </p:cNvPr>
          <p:cNvSpPr/>
          <p:nvPr userDrawn="1"/>
        </p:nvSpPr>
        <p:spPr>
          <a:xfrm>
            <a:off x="10210800" y="123615"/>
            <a:ext cx="1789709" cy="517524"/>
          </a:xfrm>
          <a:custGeom>
            <a:avLst/>
            <a:gdLst/>
            <a:ahLst/>
            <a:cxnLst/>
            <a:rect l="l" t="t" r="r" b="b"/>
            <a:pathLst>
              <a:path w="4103839" h="1186693">
                <a:moveTo>
                  <a:pt x="0" y="0"/>
                </a:moveTo>
                <a:lnTo>
                  <a:pt x="4103839" y="0"/>
                </a:lnTo>
                <a:lnTo>
                  <a:pt x="4103839" y="1186693"/>
                </a:lnTo>
                <a:lnTo>
                  <a:pt x="0" y="118669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274638"/>
            <a:ext cx="10515600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66801"/>
            <a:ext cx="11430000" cy="5408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0" y="6475623"/>
            <a:ext cx="858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66200" y="64756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73184A-D269-85E2-98B3-C535DADA839B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rcRect l="34516" t="34281"/>
          <a:stretch/>
        </p:blipFill>
        <p:spPr>
          <a:xfrm>
            <a:off x="-152400" y="-97641"/>
            <a:ext cx="1592903" cy="159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748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1" r:id="rId13"/>
    <p:sldLayoutId id="2147483712" r:id="rId14"/>
    <p:sldLayoutId id="2147483715" r:id="rId15"/>
    <p:sldLayoutId id="2147483725" r:id="rId16"/>
    <p:sldLayoutId id="2147483730" r:id="rId17"/>
    <p:sldLayoutId id="2147483731" r:id="rId18"/>
    <p:sldLayoutId id="2147483732" r:id="rId19"/>
  </p:sldLayoutIdLst>
  <p:txStyles>
    <p:titleStyle>
      <a:lvl1pPr algn="ctr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TH Sarabun New" panose="020B0500040200020003" pitchFamily="34" charset="-34"/>
          <a:ea typeface="+mj-ea"/>
          <a:cs typeface="TH Sarabun New" panose="020B0500040200020003" pitchFamily="34" charset="-34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H Sarabun New" panose="020B0500040200020003" pitchFamily="34" charset="-34"/>
          <a:ea typeface="+mn-ea"/>
          <a:cs typeface="TH Sarabun New" panose="020B0500040200020003" pitchFamily="34" charset="-34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H Sarabun New" panose="020B0500040200020003" pitchFamily="34" charset="-34"/>
          <a:ea typeface="+mn-ea"/>
          <a:cs typeface="TH Sarabun New" panose="020B0500040200020003" pitchFamily="34" charset="-34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H Sarabun New" panose="020B0500040200020003" pitchFamily="34" charset="-34"/>
          <a:ea typeface="+mn-ea"/>
          <a:cs typeface="TH Sarabun New" panose="020B0500040200020003" pitchFamily="34" charset="-34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H Sarabun New" panose="020B0500040200020003" pitchFamily="34" charset="-34"/>
          <a:ea typeface="+mn-ea"/>
          <a:cs typeface="TH Sarabun New" panose="020B0500040200020003" pitchFamily="34" charset="-34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H Sarabun New" panose="020B0500040200020003" pitchFamily="34" charset="-34"/>
          <a:ea typeface="+mn-ea"/>
          <a:cs typeface="TH Sarabun New" panose="020B0500040200020003" pitchFamily="34" charset="-3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1406.2661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arxiv.org/abs/1802.05957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ash_equilibrium" TargetMode="External"/><Relationship Id="rId2" Type="http://schemas.openxmlformats.org/officeDocument/2006/relationships/hyperlink" Target="https://en.wikipedia.org/wiki/Zero-sum_game#:~:text=Prisoner's%20Dilemma%20is%20a%20classical%20non%2Dzero%2Dsum%20game.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190.png"/><Relationship Id="rId7" Type="http://schemas.openxmlformats.org/officeDocument/2006/relationships/image" Target="../media/image210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0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Wasserstein_metric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arxiv.org/abs/1701.07875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606.03498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arxiv.org/abs/1812.04948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511.06434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BF3DBA-D175-0C61-9724-930A99486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 b="1" dirty="0"/>
              <a:t>Generative Adversarial Networks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C03F7AD-0330-3B48-5D8F-FB24C9C8EE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Dr. Praisan Padungweang, Collage of Computing, KKU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D32644-E40B-ED4C-F268-61AEE37ED780}"/>
              </a:ext>
            </a:extLst>
          </p:cNvPr>
          <p:cNvSpPr txBox="1"/>
          <p:nvPr/>
        </p:nvSpPr>
        <p:spPr>
          <a:xfrm>
            <a:off x="914400" y="6108401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Credit</a:t>
            </a:r>
            <a:r>
              <a:rPr lang="en-US">
                <a:solidFill>
                  <a:schemeClr val="bg1">
                    <a:lumMod val="65000"/>
                  </a:schemeClr>
                </a:solidFill>
              </a:rPr>
              <a:t>: Steve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Elston</a:t>
            </a:r>
          </a:p>
        </p:txBody>
      </p:sp>
      <p:pic>
        <p:nvPicPr>
          <p:cNvPr id="6" name="Picture 2" descr="Image result for harvard extension school logo">
            <a:extLst>
              <a:ext uri="{FF2B5EF4-FFF2-40B4-BE49-F238E27FC236}">
                <a16:creationId xmlns:a16="http://schemas.microsoft.com/office/drawing/2014/main" id="{1A003BFB-C090-6F8A-CF2B-E4F550250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577" y="6073697"/>
            <a:ext cx="1219200" cy="501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2363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3F945-6C7B-78F1-3EDB-43F0A2271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75F92C5-E05A-602D-B400-E0646FF367A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297488"/>
            <a:ext cx="11029950" cy="666750"/>
          </a:xfrm>
        </p:spPr>
        <p:txBody>
          <a:bodyPr>
            <a:normAutofit fontScale="90000"/>
          </a:bodyPr>
          <a:lstStyle/>
          <a:p>
            <a:r>
              <a:rPr lang="en-US" cap="none" dirty="0">
                <a:solidFill>
                  <a:schemeClr val="bg1"/>
                </a:solidFill>
              </a:rPr>
              <a:t>Generative Adversarial Networks </a:t>
            </a:r>
            <a:r>
              <a:rPr lang="en-US" dirty="0">
                <a:solidFill>
                  <a:schemeClr val="bg1"/>
                </a:solidFill>
              </a:rPr>
              <a:t>(Gan)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B0C363-335F-8DBE-60BB-8DA40F980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104540"/>
            <a:ext cx="5486400" cy="2154555"/>
          </a:xfrm>
          <a:prstGeom prst="rect">
            <a:avLst/>
          </a:prstGeom>
        </p:spPr>
      </p:pic>
      <p:pic>
        <p:nvPicPr>
          <p:cNvPr id="3" name="Picture 2" descr="CycleGAN">
            <a:extLst>
              <a:ext uri="{FF2B5EF4-FFF2-40B4-BE49-F238E27FC236}">
                <a16:creationId xmlns:a16="http://schemas.microsoft.com/office/drawing/2014/main" id="{18CB07E7-2A16-5DB8-2D9F-8B2D4BE340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3336462"/>
            <a:ext cx="5486400" cy="2636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tackedGAN">
            <a:extLst>
              <a:ext uri="{FF2B5EF4-FFF2-40B4-BE49-F238E27FC236}">
                <a16:creationId xmlns:a16="http://schemas.microsoft.com/office/drawing/2014/main" id="{56ED1C44-B387-504B-9D77-F8D422BBD5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456" y="1104540"/>
            <a:ext cx="5486400" cy="2777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4688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Generative Adversarial Networks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8"/>
            <a:ext cx="10515600" cy="5733661"/>
          </a:xfrm>
        </p:spPr>
        <p:txBody>
          <a:bodyPr>
            <a:normAutofit/>
          </a:bodyPr>
          <a:lstStyle/>
          <a:p>
            <a:r>
              <a:rPr lang="en-US" dirty="0"/>
              <a:t>GANs algorithms are used in some applications as algorithms have advanced including:</a:t>
            </a:r>
          </a:p>
          <a:p>
            <a:pPr lvl="1"/>
            <a:r>
              <a:rPr lang="en-US" dirty="0"/>
              <a:t>Create ‘skins’ for skeletons of design tools  </a:t>
            </a:r>
          </a:p>
          <a:p>
            <a:pPr lvl="1"/>
            <a:r>
              <a:rPr lang="en-US" dirty="0"/>
              <a:t>Text to image generation </a:t>
            </a:r>
          </a:p>
          <a:p>
            <a:pPr lvl="1"/>
            <a:r>
              <a:rPr lang="en-US" dirty="0"/>
              <a:t>Super resolution </a:t>
            </a:r>
          </a:p>
          <a:p>
            <a:pPr lvl="1"/>
            <a:r>
              <a:rPr lang="en-US" dirty="0"/>
              <a:t>Data augmentation </a:t>
            </a:r>
          </a:p>
          <a:p>
            <a:pPr lvl="1"/>
            <a:r>
              <a:rPr lang="en-US" dirty="0"/>
              <a:t>Scene in-painting</a:t>
            </a:r>
          </a:p>
          <a:p>
            <a:r>
              <a:rPr lang="en-US" dirty="0"/>
              <a:t>GAN algorithm proposed by </a:t>
            </a:r>
            <a:r>
              <a:rPr lang="en-US" dirty="0">
                <a:hlinkClick r:id="rId2"/>
              </a:rPr>
              <a:t>Goodfellow, et.al. 2014  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790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Introduction to GANs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0515600" cy="5091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Images generated by SN-GAN model, </a:t>
            </a:r>
            <a:r>
              <a:rPr lang="en-US" dirty="0" err="1">
                <a:hlinkClick r:id="rId2"/>
              </a:rPr>
              <a:t>Miyato</a:t>
            </a:r>
            <a:r>
              <a:rPr lang="en-US" dirty="0">
                <a:hlinkClick r:id="rId2"/>
              </a:rPr>
              <a:t>, et. al., 2018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6F0C0C-BE29-4F83-A753-B00EAE021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76" y="2404519"/>
            <a:ext cx="3432420" cy="37343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0F5382-F49C-4581-A9C9-C59FBB20F8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9744" y="2358630"/>
            <a:ext cx="3432002" cy="37343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BDA92E-4117-4B4B-9AD0-CB5A054AD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493" y="2305928"/>
            <a:ext cx="3532881" cy="3787045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E254F17-0553-46F9-8115-B31E41CF1CDD}"/>
              </a:ext>
            </a:extLst>
          </p:cNvPr>
          <p:cNvSpPr txBox="1">
            <a:spLocks/>
          </p:cNvSpPr>
          <p:nvPr/>
        </p:nvSpPr>
        <p:spPr>
          <a:xfrm>
            <a:off x="4545599" y="6353176"/>
            <a:ext cx="3469689" cy="509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128x128 color images</a:t>
            </a:r>
          </a:p>
        </p:txBody>
      </p:sp>
    </p:spTree>
    <p:extLst>
      <p:ext uri="{BB962C8B-B14F-4D97-AF65-F5344CB8AC3E}">
        <p14:creationId xmlns:p14="http://schemas.microsoft.com/office/powerpoint/2010/main" val="1867418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E89FD-BAE6-0918-BABB-E363F7EC0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953577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Generative Models and GANs</a:t>
            </a:r>
          </a:p>
        </p:txBody>
      </p:sp>
    </p:spTree>
    <p:extLst>
      <p:ext uri="{BB962C8B-B14F-4D97-AF65-F5344CB8AC3E}">
        <p14:creationId xmlns:p14="http://schemas.microsoft.com/office/powerpoint/2010/main" val="3065438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Introduction to GANs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0515600" cy="559346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Generative adversarial networks (GANs</a:t>
            </a:r>
            <a:r>
              <a:rPr lang="en-US" dirty="0"/>
              <a:t>) comprise two models which work in opposition to each other  </a:t>
            </a:r>
          </a:p>
          <a:p>
            <a:r>
              <a:rPr lang="en-US" dirty="0"/>
              <a:t>A </a:t>
            </a:r>
            <a:r>
              <a:rPr lang="en-US" b="1" dirty="0"/>
              <a:t>generator</a:t>
            </a:r>
            <a:r>
              <a:rPr lang="en-US" dirty="0"/>
              <a:t> creates new data instances starting from random noise</a:t>
            </a:r>
          </a:p>
          <a:p>
            <a:r>
              <a:rPr lang="en-US" dirty="0"/>
              <a:t>A discriminator attempts to differentiate between actual data instances and generated data   </a:t>
            </a:r>
          </a:p>
          <a:p>
            <a:r>
              <a:rPr lang="en-US" dirty="0"/>
              <a:t>The generator and discriminator engage in a </a:t>
            </a:r>
            <a:r>
              <a:rPr lang="en-US" b="1" dirty="0"/>
              <a:t>two player non-cooperative zero sum game</a:t>
            </a:r>
          </a:p>
          <a:p>
            <a:r>
              <a:rPr lang="en-US" dirty="0"/>
              <a:t>The generator attempts to fool the discriminator and the discriminator attempts to identify the output of the generator</a:t>
            </a:r>
          </a:p>
        </p:txBody>
      </p:sp>
    </p:spTree>
    <p:extLst>
      <p:ext uri="{BB962C8B-B14F-4D97-AF65-F5344CB8AC3E}">
        <p14:creationId xmlns:p14="http://schemas.microsoft.com/office/powerpoint/2010/main" val="3002081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7CE1BF-EC3C-4DEB-BA86-F3AF8EFACEF9}"/>
              </a:ext>
            </a:extLst>
          </p:cNvPr>
          <p:cNvSpPr/>
          <p:nvPr/>
        </p:nvSpPr>
        <p:spPr>
          <a:xfrm>
            <a:off x="5993180" y="1897928"/>
            <a:ext cx="2128935" cy="1546287"/>
          </a:xfrm>
          <a:prstGeom prst="rect">
            <a:avLst/>
          </a:prstGeom>
          <a:noFill/>
          <a:ln w="381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Discriminator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36AC8A-AD17-4117-8F33-4A8E2E891ED1}"/>
              </a:ext>
            </a:extLst>
          </p:cNvPr>
          <p:cNvSpPr/>
          <p:nvPr/>
        </p:nvSpPr>
        <p:spPr>
          <a:xfrm>
            <a:off x="2913395" y="4358172"/>
            <a:ext cx="2128935" cy="154628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Generator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AEDD26F-7811-4E49-AE08-A4381CAFFC4E}"/>
              </a:ext>
            </a:extLst>
          </p:cNvPr>
          <p:cNvSpPr/>
          <p:nvPr/>
        </p:nvSpPr>
        <p:spPr>
          <a:xfrm>
            <a:off x="9632850" y="2035391"/>
            <a:ext cx="1388714" cy="127135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Loss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59E893-D1AE-4426-A7B9-E24F76B7C2CF}"/>
              </a:ext>
            </a:extLst>
          </p:cNvPr>
          <p:cNvSpPr/>
          <p:nvPr/>
        </p:nvSpPr>
        <p:spPr>
          <a:xfrm rot="16200000">
            <a:off x="1021623" y="4769136"/>
            <a:ext cx="1546287" cy="72435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Noise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C19F950-70E4-47D9-AEB4-3EDB46473FAE}"/>
              </a:ext>
            </a:extLst>
          </p:cNvPr>
          <p:cNvCxnSpPr>
            <a:cxnSpLocks/>
          </p:cNvCxnSpPr>
          <p:nvPr/>
        </p:nvCxnSpPr>
        <p:spPr>
          <a:xfrm>
            <a:off x="2196009" y="5131315"/>
            <a:ext cx="756449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6F08534-9738-432C-AA43-59328FAFA6D8}"/>
              </a:ext>
            </a:extLst>
          </p:cNvPr>
          <p:cNvCxnSpPr>
            <a:cxnSpLocks/>
            <a:stCxn id="2" idx="3"/>
            <a:endCxn id="4" idx="2"/>
          </p:cNvCxnSpPr>
          <p:nvPr/>
        </p:nvCxnSpPr>
        <p:spPr>
          <a:xfrm flipV="1">
            <a:off x="8122115" y="2671071"/>
            <a:ext cx="1510735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8444CE54-DFF7-49CC-BBAC-568E4B07C1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185" y="4329852"/>
            <a:ext cx="1602926" cy="160292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AC11EB2-AC1B-48E9-B124-AEA980B4FBE1}"/>
              </a:ext>
            </a:extLst>
          </p:cNvPr>
          <p:cNvCxnSpPr>
            <a:cxnSpLocks/>
            <a:stCxn id="3" idx="3"/>
            <a:endCxn id="13" idx="1"/>
          </p:cNvCxnSpPr>
          <p:nvPr/>
        </p:nvCxnSpPr>
        <p:spPr>
          <a:xfrm flipV="1">
            <a:off x="5042330" y="5131315"/>
            <a:ext cx="1213855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7737D29-3328-4B53-B6F5-7DB3EB03C89B}"/>
              </a:ext>
            </a:extLst>
          </p:cNvPr>
          <p:cNvCxnSpPr>
            <a:cxnSpLocks/>
            <a:stCxn id="13" idx="0"/>
            <a:endCxn id="2" idx="2"/>
          </p:cNvCxnSpPr>
          <p:nvPr/>
        </p:nvCxnSpPr>
        <p:spPr>
          <a:xfrm flipV="1">
            <a:off x="7057648" y="3444215"/>
            <a:ext cx="0" cy="8856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BD8C283-1D34-4DAC-99AA-95AC9517B323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3977863" y="5904459"/>
            <a:ext cx="0" cy="687555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2979F90-CA30-4BC0-B77B-17C52543CD6D}"/>
              </a:ext>
            </a:extLst>
          </p:cNvPr>
          <p:cNvCxnSpPr>
            <a:cxnSpLocks/>
          </p:cNvCxnSpPr>
          <p:nvPr/>
        </p:nvCxnSpPr>
        <p:spPr>
          <a:xfrm flipH="1">
            <a:off x="3977862" y="6592014"/>
            <a:ext cx="6349345" cy="0"/>
          </a:xfrm>
          <a:prstGeom prst="straightConnector1">
            <a:avLst/>
          </a:prstGeom>
          <a:ln w="38100"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C368CEB-0821-4441-96B9-492F54A78210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10327207" y="3306750"/>
            <a:ext cx="52740" cy="3285264"/>
          </a:xfrm>
          <a:prstGeom prst="straightConnector1">
            <a:avLst/>
          </a:prstGeom>
          <a:ln w="38100"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C42D0EC-1157-486B-9E0F-2DF35E75F8D9}"/>
              </a:ext>
            </a:extLst>
          </p:cNvPr>
          <p:cNvSpPr txBox="1"/>
          <p:nvPr/>
        </p:nvSpPr>
        <p:spPr>
          <a:xfrm>
            <a:off x="5821585" y="5932780"/>
            <a:ext cx="2528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Generated Images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84B161-DCF0-46D5-86D0-BD53FAF688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435" y="1907841"/>
            <a:ext cx="1556853" cy="1526457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71B171A-BA07-421C-9625-E8588B8FE699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4756288" y="2671070"/>
            <a:ext cx="1236892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93932B7-DF62-460A-BABA-1FDD7B15C28B}"/>
              </a:ext>
            </a:extLst>
          </p:cNvPr>
          <p:cNvSpPr txBox="1"/>
          <p:nvPr/>
        </p:nvSpPr>
        <p:spPr>
          <a:xfrm>
            <a:off x="2713487" y="3434298"/>
            <a:ext cx="2528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Real Images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2ABB77-5DD1-4482-8F54-3090DF8966AF}"/>
              </a:ext>
            </a:extLst>
          </p:cNvPr>
          <p:cNvSpPr/>
          <p:nvPr/>
        </p:nvSpPr>
        <p:spPr>
          <a:xfrm rot="16200000">
            <a:off x="999645" y="2318806"/>
            <a:ext cx="1546287" cy="72435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Training Data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D8F01C8-C32C-46F3-B86C-3B0C5B7D2447}"/>
              </a:ext>
            </a:extLst>
          </p:cNvPr>
          <p:cNvCxnSpPr>
            <a:cxnSpLocks/>
            <a:stCxn id="22" idx="2"/>
            <a:endCxn id="9" idx="1"/>
          </p:cNvCxnSpPr>
          <p:nvPr/>
        </p:nvCxnSpPr>
        <p:spPr>
          <a:xfrm flipV="1">
            <a:off x="2134968" y="2671070"/>
            <a:ext cx="1064467" cy="99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1FE6E92-9E6E-4170-8FE6-4A2133AF3EBC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7057647" y="1425261"/>
            <a:ext cx="1" cy="472667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B808D9E-E6D6-4EE0-96AB-FB0C9EB0F50C}"/>
              </a:ext>
            </a:extLst>
          </p:cNvPr>
          <p:cNvCxnSpPr>
            <a:cxnSpLocks/>
          </p:cNvCxnSpPr>
          <p:nvPr/>
        </p:nvCxnSpPr>
        <p:spPr>
          <a:xfrm flipH="1">
            <a:off x="7057647" y="1350432"/>
            <a:ext cx="3269560" cy="0"/>
          </a:xfrm>
          <a:prstGeom prst="straightConnector1">
            <a:avLst/>
          </a:prstGeom>
          <a:ln w="38100"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F7B8736-B15B-4442-9B83-C3AA32AB0611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10327207" y="1350432"/>
            <a:ext cx="0" cy="684959"/>
          </a:xfrm>
          <a:prstGeom prst="straightConnector1">
            <a:avLst/>
          </a:prstGeom>
          <a:ln w="38100"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itle 1">
            <a:extLst>
              <a:ext uri="{FF2B5EF4-FFF2-40B4-BE49-F238E27FC236}">
                <a16:creationId xmlns:a16="http://schemas.microsoft.com/office/drawing/2014/main" id="{57E49037-B90A-495A-BEB9-D04F406BCF09}"/>
              </a:ext>
            </a:extLst>
          </p:cNvPr>
          <p:cNvSpPr txBox="1">
            <a:spLocks/>
          </p:cNvSpPr>
          <p:nvPr/>
        </p:nvSpPr>
        <p:spPr>
          <a:xfrm>
            <a:off x="789301" y="140193"/>
            <a:ext cx="10515600" cy="87200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+mn-lt"/>
              </a:rPr>
              <a:t>Basic GAN architecture  </a:t>
            </a:r>
          </a:p>
        </p:txBody>
      </p:sp>
    </p:spTree>
    <p:extLst>
      <p:ext uri="{BB962C8B-B14F-4D97-AF65-F5344CB8AC3E}">
        <p14:creationId xmlns:p14="http://schemas.microsoft.com/office/powerpoint/2010/main" val="3331262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E89FD-BAE6-0918-BABB-E363F7EC0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953577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Introduction to Game Theory for GAN Training</a:t>
            </a:r>
          </a:p>
        </p:txBody>
      </p:sp>
    </p:spTree>
    <p:extLst>
      <p:ext uri="{BB962C8B-B14F-4D97-AF65-F5344CB8AC3E}">
        <p14:creationId xmlns:p14="http://schemas.microsoft.com/office/powerpoint/2010/main" val="97139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A bit of game theory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The generator and discriminator engage in a </a:t>
                </a:r>
                <a:r>
                  <a:rPr lang="en-US" sz="2800" b="1" dirty="0"/>
                  <a:t>two player non-cooperative zero sum game  </a:t>
                </a:r>
              </a:p>
              <a:p>
                <a:r>
                  <a:rPr lang="en-US" sz="2800" dirty="0"/>
                  <a:t>In a zero sum game the cost to one player has the same magnitude but opposite sign of the other player</a:t>
                </a:r>
              </a:p>
              <a:p>
                <a:r>
                  <a:rPr lang="en-US" sz="2800" dirty="0"/>
                  <a:t>If the cost the the discriminator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/>
                  <a:t> and the cost to the generator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/>
                  <a:t>, then: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  <a:blipFill>
                <a:blip r:embed="rId2"/>
                <a:stretch>
                  <a:fillRect l="-1159" t="-1089" r="-1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9218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A bit of game theory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0" y="1124339"/>
                <a:ext cx="11097899" cy="55934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The generator and discriminator engage in a </a:t>
                </a:r>
                <a:r>
                  <a:rPr lang="en-US" sz="2800" b="1" dirty="0"/>
                  <a:t>two player non-cooperative </a:t>
                </a:r>
                <a:r>
                  <a:rPr lang="en-US" sz="2800" b="1" dirty="0">
                    <a:hlinkClick r:id="rId2"/>
                  </a:rPr>
                  <a:t>zero sum game  </a:t>
                </a:r>
                <a:endParaRPr lang="en-US" sz="2800" b="1" dirty="0"/>
              </a:p>
              <a:p>
                <a:r>
                  <a:rPr lang="en-US" sz="2800" dirty="0"/>
                  <a:t>If the cost the the discriminator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/>
                  <a:t> and the cost to the generator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/>
                  <a:t>, then: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endParaRPr lang="en-US" sz="2800" dirty="0"/>
              </a:p>
              <a:p>
                <a:r>
                  <a:rPr lang="en-US" sz="2800" dirty="0"/>
                  <a:t>Both players employ strategies to reduce their cost, but each move causes the other player to make a counter move </a:t>
                </a:r>
              </a:p>
              <a:p>
                <a:r>
                  <a:rPr lang="en-US" sz="2800" dirty="0"/>
                  <a:t>If the players continue to employ optimal strategies, the game eventually reaches a </a:t>
                </a:r>
                <a:r>
                  <a:rPr lang="en-US" sz="2800" b="1" dirty="0">
                    <a:hlinkClick r:id="rId3"/>
                  </a:rPr>
                  <a:t>Nash equilibrium </a:t>
                </a:r>
                <a:endParaRPr lang="en-US" sz="2800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0" y="1124339"/>
                <a:ext cx="11097899" cy="5593468"/>
              </a:xfrm>
              <a:blipFill>
                <a:blip r:embed="rId4"/>
                <a:stretch>
                  <a:fillRect l="-1098" t="-10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1610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A bit of game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0515600" cy="55934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The generator and discriminator engage in a </a:t>
            </a:r>
            <a:r>
              <a:rPr lang="en-US" sz="2800" b="1" dirty="0"/>
              <a:t>two player non-cooperative zero sum game  </a:t>
            </a:r>
          </a:p>
          <a:p>
            <a:r>
              <a:rPr lang="en-US" sz="2800" dirty="0"/>
              <a:t>If the players continue to employ optimal strategies, the game eventually reaches a </a:t>
            </a:r>
            <a:r>
              <a:rPr lang="en-US" sz="2800" b="1" dirty="0"/>
              <a:t>Nash equilibrium </a:t>
            </a:r>
          </a:p>
          <a:p>
            <a:r>
              <a:rPr lang="en-US" sz="2800" dirty="0"/>
              <a:t>At Nash equilibrium, the players are deadlocked </a:t>
            </a:r>
          </a:p>
          <a:p>
            <a:pPr lvl="1"/>
            <a:r>
              <a:rPr lang="en-US" sz="2400" dirty="0"/>
              <a:t>A first player makes an optimal move to reduce costs</a:t>
            </a:r>
          </a:p>
          <a:p>
            <a:pPr lvl="1"/>
            <a:r>
              <a:rPr lang="en-US" sz="2400" dirty="0"/>
              <a:t>The other player to make an optimal counter move to reduce cost </a:t>
            </a:r>
          </a:p>
          <a:p>
            <a:pPr lvl="1"/>
            <a:r>
              <a:rPr lang="en-US" sz="2400" dirty="0"/>
              <a:t>Counter move increases cost of the first player</a:t>
            </a:r>
          </a:p>
          <a:p>
            <a:pPr lvl="1"/>
            <a:r>
              <a:rPr lang="en-US" sz="2400" dirty="0"/>
              <a:t>A subsequent optimal counter-counter move of first player increases cost of the second player</a:t>
            </a:r>
          </a:p>
          <a:p>
            <a:pPr lvl="1"/>
            <a:r>
              <a:rPr lang="en-US" sz="2400" dirty="0" err="1"/>
              <a:t>etc</a:t>
            </a:r>
            <a:r>
              <a:rPr lang="en-US" sz="2400" dirty="0"/>
              <a:t>…  </a:t>
            </a:r>
          </a:p>
        </p:txBody>
      </p:sp>
    </p:spTree>
    <p:extLst>
      <p:ext uri="{BB962C8B-B14F-4D97-AF65-F5344CB8AC3E}">
        <p14:creationId xmlns:p14="http://schemas.microsoft.com/office/powerpoint/2010/main" val="3163096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A bit of game theory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012196"/>
                <a:ext cx="10515600" cy="566031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Nash equilibrium does not imply stability! </a:t>
                </a:r>
              </a:p>
              <a:p>
                <a:r>
                  <a:rPr lang="en-US" dirty="0"/>
                  <a:t>Consider a game where a first player can change a value, </a:t>
                </a:r>
                <a:r>
                  <a:rPr lang="en-US" i="1" dirty="0"/>
                  <a:t>x</a:t>
                </a:r>
                <a:r>
                  <a:rPr lang="en-US" dirty="0"/>
                  <a:t>, and the second player can change a value, </a:t>
                </a:r>
                <a:r>
                  <a:rPr lang="en-US" i="1" dirty="0"/>
                  <a:t>y</a:t>
                </a:r>
                <a:r>
                  <a:rPr lang="en-US" dirty="0"/>
                  <a:t>, with </a:t>
                </a:r>
                <a:r>
                  <a:rPr lang="en-US" b="1" dirty="0"/>
                  <a:t>cost functions </a:t>
                </a:r>
                <a:r>
                  <a:rPr lang="en-US" dirty="0"/>
                  <a:t>for each player: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en-US" sz="28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en-US" sz="2800" dirty="0"/>
              </a:p>
              <a:p>
                <a:endParaRPr lang="en-US" sz="1100" dirty="0"/>
              </a:p>
              <a:p>
                <a:r>
                  <a:rPr lang="en-US" dirty="0"/>
                  <a:t>This is a </a:t>
                </a:r>
                <a:r>
                  <a:rPr lang="en-US" b="1" dirty="0"/>
                  <a:t>zero sum game</a:t>
                </a:r>
                <a:r>
                  <a:rPr lang="en-US" dirty="0"/>
                  <a:t>: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/>
              </a:p>
              <a:p>
                <a:r>
                  <a:rPr lang="en-US" dirty="0"/>
                  <a:t>The partial derivatives tell us the change in cost for moves by each player: </a:t>
                </a:r>
              </a:p>
              <a:p>
                <a:pPr marL="0" indent="0">
                  <a:buNone/>
                </a:pPr>
                <a:endParaRPr lang="en-US" sz="11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sz="2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600" dirty="0"/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012196"/>
                <a:ext cx="10515600" cy="5660311"/>
              </a:xfrm>
              <a:blipFill>
                <a:blip r:embed="rId2"/>
                <a:stretch>
                  <a:fillRect l="-1449" t="-20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7583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A bit of game theory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012196"/>
                <a:ext cx="10515600" cy="584580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Nash equilibrium does not imply stability! </a:t>
                </a:r>
              </a:p>
              <a:p>
                <a:r>
                  <a:rPr lang="en-US" dirty="0"/>
                  <a:t>Consider a game with </a:t>
                </a:r>
                <a:r>
                  <a:rPr lang="en-US" b="1" dirty="0"/>
                  <a:t>cost functions </a:t>
                </a:r>
                <a:r>
                  <a:rPr lang="en-US" dirty="0"/>
                  <a:t>for each player: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en-US" sz="28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en-US" sz="2800" dirty="0"/>
              </a:p>
              <a:p>
                <a:r>
                  <a:rPr lang="en-US" dirty="0"/>
                  <a:t>At Nash equilibrium the costs to the players are not stable with time: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Cost for each player grows without bounds! 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012196"/>
                <a:ext cx="10515600" cy="5845803"/>
              </a:xfrm>
              <a:blipFill>
                <a:blip r:embed="rId2"/>
                <a:stretch>
                  <a:fillRect l="-1449" t="-1981" b="-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C400700-7BE1-4249-832F-78A532C09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3581400"/>
            <a:ext cx="5283434" cy="272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220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E89FD-BAE6-0918-BABB-E363F7EC0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953577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Training a Model using Game Theory</a:t>
            </a:r>
          </a:p>
        </p:txBody>
      </p:sp>
    </p:spTree>
    <p:extLst>
      <p:ext uri="{BB962C8B-B14F-4D97-AF65-F5344CB8AC3E}">
        <p14:creationId xmlns:p14="http://schemas.microsoft.com/office/powerpoint/2010/main" val="3443575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Game theory and GAN training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The generator and discriminator engage in a </a:t>
                </a:r>
                <a:r>
                  <a:rPr lang="en-US" sz="2800" b="1" dirty="0"/>
                  <a:t>two player non-cooperative zero sum game  </a:t>
                </a:r>
              </a:p>
              <a:p>
                <a:r>
                  <a:rPr lang="en-US" sz="2800" dirty="0"/>
                  <a:t>If the cost the the discriminator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/>
                  <a:t> and the cost to the generator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800" dirty="0"/>
                  <a:t>, then: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Define a </a:t>
                </a:r>
                <a:r>
                  <a:rPr lang="en-US" sz="2800" b="1" dirty="0"/>
                  <a:t>value function </a:t>
                </a:r>
                <a:r>
                  <a:rPr lang="en-US" sz="2800" dirty="0"/>
                  <a:t>with </a:t>
                </a:r>
                <a:r>
                  <a:rPr lang="en-US" sz="2800" b="1" dirty="0"/>
                  <a:t>parameter vectors </a:t>
                </a:r>
                <a:r>
                  <a:rPr lang="en-US" sz="2800" dirty="0"/>
                  <a:t>for the discriminator,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800" dirty="0"/>
                  <a:t>, and generator,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000" dirty="0"/>
                  <a:t>: </a:t>
                </a:r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At equilibrium, the solution minimizes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with respect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, and maximizes with respect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:  </a:t>
                </a:r>
              </a:p>
              <a:p>
                <a:pPr marL="0" indent="0">
                  <a:buNone/>
                </a:pPr>
                <a:endParaRPr lang="en-US" sz="2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9"/>
                <a:ext cx="10515600" cy="5593468"/>
              </a:xfrm>
              <a:blipFill>
                <a:blip r:embed="rId2"/>
                <a:stretch>
                  <a:fillRect l="-1159" t="-1089" r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8318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Game theory and GAN training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0" y="1124339"/>
                <a:ext cx="10992391" cy="559346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The generator and discriminator engage in a </a:t>
                </a:r>
                <a:r>
                  <a:rPr lang="en-US" sz="2800" b="1" dirty="0"/>
                  <a:t>two player non-cooperative zero sum game  </a:t>
                </a:r>
              </a:p>
              <a:p>
                <a:r>
                  <a:rPr lang="en-US" sz="2800" dirty="0"/>
                  <a:t>Define the value function given parameter vectors for the discriminator,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800" dirty="0"/>
                  <a:t>, and generator,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800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At equilibrium, the solution minimizes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en-US" sz="2800" dirty="0"/>
                  <a:t>with respect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, and maximizes with respect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/>
              </a:p>
              <a:p>
                <a:pPr lvl="1"/>
                <a:r>
                  <a:rPr lang="en-US" sz="2400" dirty="0"/>
                  <a:t>Minimizing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means the </a:t>
                </a:r>
                <a:r>
                  <a:rPr lang="en-US" sz="2400" b="1" dirty="0"/>
                  <a:t>generator is optimally creating fake images that fool the discriminator   </a:t>
                </a:r>
              </a:p>
              <a:p>
                <a:pPr lvl="1"/>
                <a:r>
                  <a:rPr lang="en-US" sz="2400" dirty="0"/>
                  <a:t>Maximizing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means the </a:t>
                </a:r>
                <a:r>
                  <a:rPr lang="en-US" sz="2400" b="1" dirty="0"/>
                  <a:t>discriminator is optimally capable of detecting fake images   </a:t>
                </a:r>
              </a:p>
              <a:p>
                <a:pPr lvl="1"/>
                <a:r>
                  <a:rPr lang="en-US" sz="2400" dirty="0"/>
                  <a:t>At equilibrium the game between the generator and discriminator is </a:t>
                </a:r>
                <a:r>
                  <a:rPr lang="en-US" sz="2400" b="1" dirty="0"/>
                  <a:t>deadlocked</a:t>
                </a:r>
              </a:p>
              <a:p>
                <a:pPr marL="0" indent="0">
                  <a:buNone/>
                </a:pPr>
                <a:endParaRPr lang="en-US" sz="2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0" y="1124339"/>
                <a:ext cx="10992391" cy="5593468"/>
              </a:xfrm>
              <a:blipFill>
                <a:blip r:embed="rId2"/>
                <a:stretch>
                  <a:fillRect l="-1109" t="-1089" r="-21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591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Game theory and GAN training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0" y="1124339"/>
                <a:ext cx="10992391" cy="55934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The generator and discriminator engage in a </a:t>
                </a:r>
                <a:r>
                  <a:rPr lang="en-US" sz="2800" b="1" dirty="0"/>
                  <a:t>two player non-cooperative zero sum game  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2800" dirty="0"/>
                  <a:t>Define the value function given parameter vectors for the discriminator,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800" dirty="0"/>
                  <a:t>, and generator,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000" dirty="0"/>
                  <a:t>: </a:t>
                </a:r>
                <a:endParaRPr lang="en-US" sz="2800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/>
              </a:p>
              <a:p>
                <a:pPr>
                  <a:lnSpc>
                    <a:spcPct val="110000"/>
                  </a:lnSpc>
                </a:pPr>
                <a:r>
                  <a:rPr lang="en-US" sz="2800" dirty="0"/>
                  <a:t>Write this relationships using expectations with respect to the probability distributions of the real data,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</a:t>
                </a:r>
                <a:r>
                  <a:rPr lang="en-US" sz="2800" dirty="0"/>
                  <a:t>and the generated data,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</a:t>
                </a:r>
                <a:r>
                  <a:rPr lang="en-US" sz="2800" dirty="0"/>
                  <a:t>where </a:t>
                </a:r>
                <a:r>
                  <a:rPr lang="en-US" sz="2800" i="1" dirty="0"/>
                  <a:t>z</a:t>
                </a:r>
                <a:r>
                  <a:rPr lang="en-US" sz="2800" dirty="0"/>
                  <a:t> is a random noise variable:</a:t>
                </a:r>
                <a:endParaRPr lang="en-US" sz="900" dirty="0"/>
              </a:p>
              <a:p>
                <a:pPr marL="0" indent="0">
                  <a:lnSpc>
                    <a:spcPct val="14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𝐺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~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𝑙𝑜𝑔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~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𝑙𝑜𝑔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𝐺</m:t>
                                                  </m:r>
                                                </m:e>
                                                <m:sub>
                                                  <m:sSub>
                                                    <m:sSubPr>
                                                      <m:ctrlP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𝜃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𝐺</m:t>
                                                      </m:r>
                                                    </m:sub>
                                                  </m:sSub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700" dirty="0"/>
                                <m:t> </m:t>
                              </m:r>
                              <m:func>
                                <m:func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                   </m:t>
                                      </m:r>
                                    </m:e>
                                    <m:lim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lim>
                                  </m:limLow>
                                </m:fName>
                                <m:e>
                                  <m:func>
                                    <m:func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                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~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𝑙𝑜𝑔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𝐷</m:t>
                                                  </m:r>
                                                </m:e>
                                                <m:sub>
                                                  <m:sSub>
                                                    <m:sSubPr>
                                                      <m:ctrlP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𝜃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𝐷</m:t>
                                                      </m:r>
                                                    </m:sub>
                                                  </m:sSub>
                                                </m:sub>
                                              </m:s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~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𝑙𝑜𝑔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1−</m:t>
                                                  </m:r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𝐷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200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sSub>
                                                    <m:sSubPr>
                                                      <m:ctrlP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𝜃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𝐺</m:t>
                                                      </m:r>
                                                    </m:sub>
                                                  </m:sSub>
                                                </m:sub>
                                              </m:s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0" y="1124339"/>
                <a:ext cx="10992391" cy="5593468"/>
              </a:xfrm>
              <a:blipFill>
                <a:blip r:embed="rId2"/>
                <a:stretch>
                  <a:fillRect l="-1109" t="-1089" r="-1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F549597-52AE-4457-B0E6-F2DDF2226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458" y="4984654"/>
            <a:ext cx="9449286" cy="187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28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Game theory and GAN training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9"/>
                <a:ext cx="11174099" cy="55934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The generator and discriminator engage in a </a:t>
                </a:r>
                <a:r>
                  <a:rPr lang="en-US" sz="2800" b="1" dirty="0"/>
                  <a:t>two player non-cooperative zero sum game 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400" dirty="0"/>
                  <a:t>How can we understand this intimidating  equation? 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𝐺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~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𝑙𝑜𝑔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~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𝑙𝑜𝑔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𝐺</m:t>
                                                  </m:r>
                                                </m:e>
                                                <m:sub>
                                                  <m:sSub>
                                                    <m:sSubPr>
                                                      <m:ctrlP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𝜃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𝐺</m:t>
                                                      </m:r>
                                                    </m:sub>
                                                  </m:sSub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2000" dirty="0"/>
                                <m:t>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/>
                  <a:t> is the expected value of the discriminator over the distribution of the real data,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pPr lvl="1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400" dirty="0"/>
                  <a:t>Maximizing means discriminator optimally recognizes real data  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𝐺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sz="2400" dirty="0"/>
                  <a:t> is one minus the expected value of the discriminator over the distribution of the generated data,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US" sz="2400" dirty="0"/>
              </a:p>
              <a:p>
                <a:pPr lvl="1">
                  <a:lnSpc>
                    <a:spcPct val="120000"/>
                  </a:lnSpc>
                  <a:spcAft>
                    <a:spcPts val="1200"/>
                  </a:spcAft>
                </a:pPr>
                <a:r>
                  <a:rPr lang="en-US" sz="2400" dirty="0"/>
                  <a:t>Minimizing means generator optimally fools discriminator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9"/>
                <a:ext cx="11174099" cy="5593468"/>
              </a:xfrm>
              <a:blipFill>
                <a:blip r:embed="rId2"/>
                <a:stretch>
                  <a:fillRect l="-1091" t="-1089" r="-13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7317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Game theory and GAN training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301" y="1124339"/>
                <a:ext cx="10992391" cy="55934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The generator and discriminator engage in a </a:t>
                </a:r>
                <a:r>
                  <a:rPr lang="en-US" sz="2800" b="1" dirty="0"/>
                  <a:t>two player non-cooperative zero sum game  </a:t>
                </a:r>
              </a:p>
              <a:p>
                <a:r>
                  <a:rPr lang="en-US" sz="2800" dirty="0"/>
                  <a:t>How can we understand this intimidating equation?  </a:t>
                </a:r>
                <a:endParaRPr lang="en-US" sz="105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𝐺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~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𝑙𝑜𝑔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~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𝑙𝑜𝑔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𝐺</m:t>
                                                  </m:r>
                                                </m:e>
                                                <m:sub>
                                                  <m:sSub>
                                                    <m:sSubPr>
                                                      <m:ctrlP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𝜃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𝐺</m:t>
                                                      </m:r>
                                                    </m:sub>
                                                  </m:sSub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sz="20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700" dirty="0"/>
                                <m:t>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endParaRPr lang="en-US" sz="1100" dirty="0"/>
              </a:p>
              <a:p>
                <a:r>
                  <a:rPr lang="en-US" sz="2800" dirty="0">
                    <a:ea typeface="Cambria Math" panose="02040503050406030204" pitchFamily="18" charset="0"/>
                  </a:rPr>
                  <a:t>At equilibrium the discriminator cannot tell the difference between real and generated data so: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C6555-A8E7-4F73-8035-156F702D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301" y="1124339"/>
                <a:ext cx="10992391" cy="5593468"/>
              </a:xfrm>
              <a:blipFill>
                <a:blip r:embed="rId2"/>
                <a:stretch>
                  <a:fillRect l="-1109" t="-1089" r="-1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6688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Game theory and GAN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0992391" cy="55934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do we train a discriminator and generator? </a:t>
            </a:r>
          </a:p>
          <a:p>
            <a:r>
              <a:rPr lang="en-US" dirty="0"/>
              <a:t>Need to train both models together  </a:t>
            </a:r>
          </a:p>
          <a:p>
            <a:r>
              <a:rPr lang="en-US" dirty="0"/>
              <a:t>Discriminator is a regression model</a:t>
            </a:r>
          </a:p>
          <a:p>
            <a:pPr lvl="1"/>
            <a:r>
              <a:rPr lang="en-US" dirty="0"/>
              <a:t>Large value for fake image  </a:t>
            </a:r>
          </a:p>
          <a:p>
            <a:pPr lvl="1"/>
            <a:r>
              <a:rPr lang="en-US" dirty="0"/>
              <a:t>0 for real image </a:t>
            </a:r>
          </a:p>
          <a:p>
            <a:r>
              <a:rPr lang="en-US" dirty="0"/>
              <a:t>Generator uses discriminator to compute loss function </a:t>
            </a:r>
          </a:p>
          <a:p>
            <a:r>
              <a:rPr lang="en-US" dirty="0"/>
              <a:t>Complete algorithm alternates between training discriminator and generator </a:t>
            </a:r>
          </a:p>
        </p:txBody>
      </p:sp>
    </p:spTree>
    <p:extLst>
      <p:ext uri="{BB962C8B-B14F-4D97-AF65-F5344CB8AC3E}">
        <p14:creationId xmlns:p14="http://schemas.microsoft.com/office/powerpoint/2010/main" val="299868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F7CE1BF-EC3C-4DEB-BA86-F3AF8EFACEF9}"/>
                  </a:ext>
                </a:extLst>
              </p:cNvPr>
              <p:cNvSpPr/>
              <p:nvPr/>
            </p:nvSpPr>
            <p:spPr>
              <a:xfrm>
                <a:off x="5613724" y="1897928"/>
                <a:ext cx="2898070" cy="1546287"/>
              </a:xfrm>
              <a:prstGeom prst="rect">
                <a:avLst/>
              </a:prstGeom>
              <a:noFill/>
              <a:ln w="38100"/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Discriminator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), </m:t>
                      </m:r>
                    </m:oMath>
                  </m:oMathPara>
                </a14:m>
                <a:endParaRPr lang="en-US" sz="2400" b="1" i="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sub>
                          </m:s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𝑮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F7CE1BF-EC3C-4DEB-BA86-F3AF8EFACE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724" y="1897928"/>
                <a:ext cx="2898070" cy="15462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/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E36AC8A-AD17-4117-8F33-4A8E2E891ED1}"/>
                  </a:ext>
                </a:extLst>
              </p:cNvPr>
              <p:cNvSpPr/>
              <p:nvPr/>
            </p:nvSpPr>
            <p:spPr>
              <a:xfrm>
                <a:off x="2591546" y="4358172"/>
                <a:ext cx="2761745" cy="1546287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Generator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E36AC8A-AD17-4117-8F33-4A8E2E891E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546" y="4358172"/>
                <a:ext cx="2761745" cy="15462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EAEDD26F-7811-4E49-AE08-A4381CAFFC4E}"/>
              </a:ext>
            </a:extLst>
          </p:cNvPr>
          <p:cNvSpPr/>
          <p:nvPr/>
        </p:nvSpPr>
        <p:spPr>
          <a:xfrm>
            <a:off x="9632850" y="2035391"/>
            <a:ext cx="1388714" cy="127135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Loss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59E893-D1AE-4426-A7B9-E24F76B7C2CF}"/>
              </a:ext>
            </a:extLst>
          </p:cNvPr>
          <p:cNvSpPr/>
          <p:nvPr/>
        </p:nvSpPr>
        <p:spPr>
          <a:xfrm rot="16200000">
            <a:off x="1021623" y="4769136"/>
            <a:ext cx="1546287" cy="72435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Noise, z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C19F950-70E4-47D9-AEB4-3EDB46473FAE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196009" y="5131315"/>
            <a:ext cx="395537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6F08534-9738-432C-AA43-59328FAFA6D8}"/>
              </a:ext>
            </a:extLst>
          </p:cNvPr>
          <p:cNvCxnSpPr>
            <a:cxnSpLocks/>
            <a:stCxn id="2" idx="3"/>
            <a:endCxn id="4" idx="2"/>
          </p:cNvCxnSpPr>
          <p:nvPr/>
        </p:nvCxnSpPr>
        <p:spPr>
          <a:xfrm flipV="1">
            <a:off x="8511794" y="2671071"/>
            <a:ext cx="1121056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8444CE54-DFF7-49CC-BBAC-568E4B07C1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185" y="4329852"/>
            <a:ext cx="1602926" cy="160292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AC11EB2-AC1B-48E9-B124-AEA980B4FBE1}"/>
              </a:ext>
            </a:extLst>
          </p:cNvPr>
          <p:cNvCxnSpPr>
            <a:cxnSpLocks/>
            <a:stCxn id="3" idx="3"/>
            <a:endCxn id="13" idx="1"/>
          </p:cNvCxnSpPr>
          <p:nvPr/>
        </p:nvCxnSpPr>
        <p:spPr>
          <a:xfrm flipV="1">
            <a:off x="5353291" y="5131315"/>
            <a:ext cx="902894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7737D29-3328-4B53-B6F5-7DB3EB03C89B}"/>
              </a:ext>
            </a:extLst>
          </p:cNvPr>
          <p:cNvCxnSpPr>
            <a:cxnSpLocks/>
            <a:stCxn id="13" idx="0"/>
            <a:endCxn id="2" idx="2"/>
          </p:cNvCxnSpPr>
          <p:nvPr/>
        </p:nvCxnSpPr>
        <p:spPr>
          <a:xfrm flipV="1">
            <a:off x="7057648" y="3444215"/>
            <a:ext cx="5111" cy="8856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BD8C283-1D34-4DAC-99AA-95AC9517B323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3972419" y="5904459"/>
            <a:ext cx="5444" cy="687555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2979F90-CA30-4BC0-B77B-17C52543CD6D}"/>
              </a:ext>
            </a:extLst>
          </p:cNvPr>
          <p:cNvCxnSpPr>
            <a:cxnSpLocks/>
          </p:cNvCxnSpPr>
          <p:nvPr/>
        </p:nvCxnSpPr>
        <p:spPr>
          <a:xfrm flipH="1">
            <a:off x="3977862" y="6592014"/>
            <a:ext cx="6349345" cy="0"/>
          </a:xfrm>
          <a:prstGeom prst="straightConnector1">
            <a:avLst/>
          </a:prstGeom>
          <a:ln w="38100"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C368CEB-0821-4441-96B9-492F54A78210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10327207" y="3306750"/>
            <a:ext cx="52740" cy="3285264"/>
          </a:xfrm>
          <a:prstGeom prst="straightConnector1">
            <a:avLst/>
          </a:prstGeom>
          <a:ln w="38100"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C42D0EC-1157-486B-9E0F-2DF35E75F8D9}"/>
              </a:ext>
            </a:extLst>
          </p:cNvPr>
          <p:cNvSpPr txBox="1"/>
          <p:nvPr/>
        </p:nvSpPr>
        <p:spPr>
          <a:xfrm>
            <a:off x="5821585" y="5932780"/>
            <a:ext cx="2528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Generated Images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84B161-DCF0-46D5-86D0-BD53FAF688E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435" y="1907841"/>
            <a:ext cx="1556853" cy="1526457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71B171A-BA07-421C-9625-E8588B8FE699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4756288" y="2671070"/>
            <a:ext cx="857436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93932B7-DF62-460A-BABA-1FDD7B15C28B}"/>
              </a:ext>
            </a:extLst>
          </p:cNvPr>
          <p:cNvSpPr txBox="1"/>
          <p:nvPr/>
        </p:nvSpPr>
        <p:spPr>
          <a:xfrm>
            <a:off x="2713487" y="3434298"/>
            <a:ext cx="2528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Real Images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2ABB77-5DD1-4482-8F54-3090DF8966AF}"/>
              </a:ext>
            </a:extLst>
          </p:cNvPr>
          <p:cNvSpPr/>
          <p:nvPr/>
        </p:nvSpPr>
        <p:spPr>
          <a:xfrm rot="16200000">
            <a:off x="999645" y="2318806"/>
            <a:ext cx="1546287" cy="72435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Training Data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D8F01C8-C32C-46F3-B86C-3B0C5B7D2447}"/>
              </a:ext>
            </a:extLst>
          </p:cNvPr>
          <p:cNvCxnSpPr>
            <a:cxnSpLocks/>
            <a:stCxn id="22" idx="2"/>
            <a:endCxn id="9" idx="1"/>
          </p:cNvCxnSpPr>
          <p:nvPr/>
        </p:nvCxnSpPr>
        <p:spPr>
          <a:xfrm flipV="1">
            <a:off x="2134968" y="2671070"/>
            <a:ext cx="1064467" cy="99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1FE6E92-9E6E-4170-8FE6-4A2133AF3EBC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7057647" y="1425261"/>
            <a:ext cx="5112" cy="472667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B808D9E-E6D6-4EE0-96AB-FB0C9EB0F50C}"/>
              </a:ext>
            </a:extLst>
          </p:cNvPr>
          <p:cNvCxnSpPr>
            <a:cxnSpLocks/>
          </p:cNvCxnSpPr>
          <p:nvPr/>
        </p:nvCxnSpPr>
        <p:spPr>
          <a:xfrm flipH="1">
            <a:off x="7057647" y="1350432"/>
            <a:ext cx="3269560" cy="0"/>
          </a:xfrm>
          <a:prstGeom prst="straightConnector1">
            <a:avLst/>
          </a:prstGeom>
          <a:ln w="38100"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F7B8736-B15B-4442-9B83-C3AA32AB0611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10327207" y="1350432"/>
            <a:ext cx="0" cy="684959"/>
          </a:xfrm>
          <a:prstGeom prst="straightConnector1">
            <a:avLst/>
          </a:prstGeom>
          <a:ln w="38100"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itle 1">
            <a:extLst>
              <a:ext uri="{FF2B5EF4-FFF2-40B4-BE49-F238E27FC236}">
                <a16:creationId xmlns:a16="http://schemas.microsoft.com/office/drawing/2014/main" id="{57E49037-B90A-495A-BEB9-D04F406BCF09}"/>
              </a:ext>
            </a:extLst>
          </p:cNvPr>
          <p:cNvSpPr txBox="1">
            <a:spLocks/>
          </p:cNvSpPr>
          <p:nvPr/>
        </p:nvSpPr>
        <p:spPr>
          <a:xfrm>
            <a:off x="789301" y="140192"/>
            <a:ext cx="10515600" cy="163532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+mn-lt"/>
              </a:rPr>
              <a:t>Basic GAN architecture </a:t>
            </a:r>
          </a:p>
          <a:p>
            <a:r>
              <a:rPr lang="en-US" sz="2800" dirty="0">
                <a:latin typeface="+mn-lt"/>
              </a:rPr>
              <a:t>Alternately train generator and discriminator</a:t>
            </a:r>
            <a:endParaRPr lang="en-US" sz="40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A43B807-E7CC-E28D-CAEE-C6D1DA49AC70}"/>
                  </a:ext>
                </a:extLst>
              </p:cNvPr>
              <p:cNvSpPr txBox="1"/>
              <p:nvPr/>
            </p:nvSpPr>
            <p:spPr>
              <a:xfrm>
                <a:off x="7107408" y="3666383"/>
                <a:ext cx="4958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A43B807-E7CC-E28D-CAEE-C6D1DA49A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408" y="3666383"/>
                <a:ext cx="495891" cy="461665"/>
              </a:xfrm>
              <a:prstGeom prst="rect">
                <a:avLst/>
              </a:prstGeom>
              <a:blipFill>
                <a:blip r:embed="rId6"/>
                <a:stretch>
                  <a:fillRect l="-4938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D295F1-52C5-5F54-E019-2F1BC16BA11A}"/>
                  </a:ext>
                </a:extLst>
              </p:cNvPr>
              <p:cNvSpPr txBox="1"/>
              <p:nvPr/>
            </p:nvSpPr>
            <p:spPr>
              <a:xfrm>
                <a:off x="4920158" y="2576980"/>
                <a:ext cx="4958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D295F1-52C5-5F54-E019-2F1BC16BA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0158" y="2576980"/>
                <a:ext cx="495891" cy="461665"/>
              </a:xfrm>
              <a:prstGeom prst="rect">
                <a:avLst/>
              </a:prstGeom>
              <a:blipFill>
                <a:blip r:embed="rId7"/>
                <a:stretch>
                  <a:fillRect l="-4938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FA7D18-4DFB-EDFB-D5D4-C3A2441ADEC4}"/>
                  </a:ext>
                </a:extLst>
              </p:cNvPr>
              <p:cNvSpPr txBox="1"/>
              <p:nvPr/>
            </p:nvSpPr>
            <p:spPr>
              <a:xfrm>
                <a:off x="10533624" y="1642927"/>
                <a:ext cx="13887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FA7D18-4DFB-EDFB-D5D4-C3A2441AD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624" y="1642927"/>
                <a:ext cx="1388714" cy="461665"/>
              </a:xfrm>
              <a:prstGeom prst="rect">
                <a:avLst/>
              </a:prstGeom>
              <a:blipFill>
                <a:blip r:embed="rId8"/>
                <a:stretch>
                  <a:fillRect l="-4386"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54808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F7CE1BF-EC3C-4DEB-BA86-F3AF8EFACEF9}"/>
                  </a:ext>
                </a:extLst>
              </p:cNvPr>
              <p:cNvSpPr/>
              <p:nvPr/>
            </p:nvSpPr>
            <p:spPr>
              <a:xfrm>
                <a:off x="5613724" y="1897928"/>
                <a:ext cx="2898070" cy="1546287"/>
              </a:xfrm>
              <a:prstGeom prst="rect">
                <a:avLst/>
              </a:prstGeom>
              <a:noFill/>
              <a:ln w="38100"/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Discriminator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unc>
                            <m:func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𝐺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F7CE1BF-EC3C-4DEB-BA86-F3AF8EFACE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724" y="1897928"/>
                <a:ext cx="2898070" cy="15462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/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E36AC8A-AD17-4117-8F33-4A8E2E891ED1}"/>
                  </a:ext>
                </a:extLst>
              </p:cNvPr>
              <p:cNvSpPr/>
              <p:nvPr/>
            </p:nvSpPr>
            <p:spPr>
              <a:xfrm>
                <a:off x="2591546" y="4358172"/>
                <a:ext cx="2761745" cy="1546287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Generator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fNam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𝐺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E36AC8A-AD17-4117-8F33-4A8E2E891E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546" y="4358172"/>
                <a:ext cx="2761745" cy="15462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EAEDD26F-7811-4E49-AE08-A4381CAFFC4E}"/>
              </a:ext>
            </a:extLst>
          </p:cNvPr>
          <p:cNvSpPr/>
          <p:nvPr/>
        </p:nvSpPr>
        <p:spPr>
          <a:xfrm>
            <a:off x="9632850" y="2035391"/>
            <a:ext cx="1388714" cy="127135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Loss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59E893-D1AE-4426-A7B9-E24F76B7C2CF}"/>
              </a:ext>
            </a:extLst>
          </p:cNvPr>
          <p:cNvSpPr/>
          <p:nvPr/>
        </p:nvSpPr>
        <p:spPr>
          <a:xfrm rot="16200000">
            <a:off x="1021623" y="4769136"/>
            <a:ext cx="1546287" cy="72435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Noise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C19F950-70E4-47D9-AEB4-3EDB46473FAE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196009" y="5131315"/>
            <a:ext cx="395537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6F08534-9738-432C-AA43-59328FAFA6D8}"/>
              </a:ext>
            </a:extLst>
          </p:cNvPr>
          <p:cNvCxnSpPr>
            <a:cxnSpLocks/>
            <a:stCxn id="2" idx="3"/>
            <a:endCxn id="4" idx="2"/>
          </p:cNvCxnSpPr>
          <p:nvPr/>
        </p:nvCxnSpPr>
        <p:spPr>
          <a:xfrm flipV="1">
            <a:off x="8511794" y="2671071"/>
            <a:ext cx="1121056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8444CE54-DFF7-49CC-BBAC-568E4B07C1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185" y="4329852"/>
            <a:ext cx="1602926" cy="160292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AC11EB2-AC1B-48E9-B124-AEA980B4FBE1}"/>
              </a:ext>
            </a:extLst>
          </p:cNvPr>
          <p:cNvCxnSpPr>
            <a:cxnSpLocks/>
            <a:stCxn id="3" idx="3"/>
            <a:endCxn id="13" idx="1"/>
          </p:cNvCxnSpPr>
          <p:nvPr/>
        </p:nvCxnSpPr>
        <p:spPr>
          <a:xfrm flipV="1">
            <a:off x="5353291" y="5131315"/>
            <a:ext cx="902894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7737D29-3328-4B53-B6F5-7DB3EB03C89B}"/>
              </a:ext>
            </a:extLst>
          </p:cNvPr>
          <p:cNvCxnSpPr>
            <a:cxnSpLocks/>
            <a:stCxn id="13" idx="0"/>
            <a:endCxn id="2" idx="2"/>
          </p:cNvCxnSpPr>
          <p:nvPr/>
        </p:nvCxnSpPr>
        <p:spPr>
          <a:xfrm flipV="1">
            <a:off x="7057648" y="3444215"/>
            <a:ext cx="5111" cy="8856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BD8C283-1D34-4DAC-99AA-95AC9517B323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3972419" y="5904459"/>
            <a:ext cx="5444" cy="687555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2979F90-CA30-4BC0-B77B-17C52543CD6D}"/>
              </a:ext>
            </a:extLst>
          </p:cNvPr>
          <p:cNvCxnSpPr>
            <a:cxnSpLocks/>
          </p:cNvCxnSpPr>
          <p:nvPr/>
        </p:nvCxnSpPr>
        <p:spPr>
          <a:xfrm flipH="1">
            <a:off x="3977862" y="6592014"/>
            <a:ext cx="6349345" cy="0"/>
          </a:xfrm>
          <a:prstGeom prst="straightConnector1">
            <a:avLst/>
          </a:prstGeom>
          <a:ln w="38100"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C368CEB-0821-4441-96B9-492F54A78210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10327207" y="3306750"/>
            <a:ext cx="52740" cy="3285264"/>
          </a:xfrm>
          <a:prstGeom prst="straightConnector1">
            <a:avLst/>
          </a:prstGeom>
          <a:ln w="38100"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C42D0EC-1157-486B-9E0F-2DF35E75F8D9}"/>
              </a:ext>
            </a:extLst>
          </p:cNvPr>
          <p:cNvSpPr txBox="1"/>
          <p:nvPr/>
        </p:nvSpPr>
        <p:spPr>
          <a:xfrm>
            <a:off x="5821585" y="5932780"/>
            <a:ext cx="2528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Generated Images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84B161-DCF0-46D5-86D0-BD53FAF688E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435" y="1907841"/>
            <a:ext cx="1556853" cy="1526457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71B171A-BA07-421C-9625-E8588B8FE699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4756288" y="2671070"/>
            <a:ext cx="857436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93932B7-DF62-460A-BABA-1FDD7B15C28B}"/>
              </a:ext>
            </a:extLst>
          </p:cNvPr>
          <p:cNvSpPr txBox="1"/>
          <p:nvPr/>
        </p:nvSpPr>
        <p:spPr>
          <a:xfrm>
            <a:off x="2713487" y="3434298"/>
            <a:ext cx="2528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Real Images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2ABB77-5DD1-4482-8F54-3090DF8966AF}"/>
              </a:ext>
            </a:extLst>
          </p:cNvPr>
          <p:cNvSpPr/>
          <p:nvPr/>
        </p:nvSpPr>
        <p:spPr>
          <a:xfrm rot="16200000">
            <a:off x="999645" y="2318806"/>
            <a:ext cx="1546287" cy="72435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Training Data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D8F01C8-C32C-46F3-B86C-3B0C5B7D2447}"/>
              </a:ext>
            </a:extLst>
          </p:cNvPr>
          <p:cNvCxnSpPr>
            <a:cxnSpLocks/>
            <a:stCxn id="22" idx="2"/>
            <a:endCxn id="9" idx="1"/>
          </p:cNvCxnSpPr>
          <p:nvPr/>
        </p:nvCxnSpPr>
        <p:spPr>
          <a:xfrm flipV="1">
            <a:off x="2134968" y="2671070"/>
            <a:ext cx="1064467" cy="99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1FE6E92-9E6E-4170-8FE6-4A2133AF3EBC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7057647" y="1425261"/>
            <a:ext cx="5112" cy="472667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B808D9E-E6D6-4EE0-96AB-FB0C9EB0F50C}"/>
              </a:ext>
            </a:extLst>
          </p:cNvPr>
          <p:cNvCxnSpPr>
            <a:cxnSpLocks/>
          </p:cNvCxnSpPr>
          <p:nvPr/>
        </p:nvCxnSpPr>
        <p:spPr>
          <a:xfrm flipH="1">
            <a:off x="7057647" y="1350432"/>
            <a:ext cx="3269560" cy="0"/>
          </a:xfrm>
          <a:prstGeom prst="straightConnector1">
            <a:avLst/>
          </a:prstGeom>
          <a:ln w="38100"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F7B8736-B15B-4442-9B83-C3AA32AB0611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10327207" y="1350432"/>
            <a:ext cx="0" cy="684959"/>
          </a:xfrm>
          <a:prstGeom prst="straightConnector1">
            <a:avLst/>
          </a:prstGeom>
          <a:ln w="38100"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itle 1">
            <a:extLst>
              <a:ext uri="{FF2B5EF4-FFF2-40B4-BE49-F238E27FC236}">
                <a16:creationId xmlns:a16="http://schemas.microsoft.com/office/drawing/2014/main" id="{57E49037-B90A-495A-BEB9-D04F406BCF09}"/>
              </a:ext>
            </a:extLst>
          </p:cNvPr>
          <p:cNvSpPr txBox="1">
            <a:spLocks/>
          </p:cNvSpPr>
          <p:nvPr/>
        </p:nvSpPr>
        <p:spPr>
          <a:xfrm>
            <a:off x="789301" y="140192"/>
            <a:ext cx="10515600" cy="163532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+mn-lt"/>
              </a:rPr>
              <a:t>Basic GAN architecture </a:t>
            </a:r>
          </a:p>
          <a:p>
            <a:r>
              <a:rPr lang="en-US" sz="2800" dirty="0">
                <a:latin typeface="+mn-lt"/>
              </a:rPr>
              <a:t>Alternately train generator and discriminator</a:t>
            </a:r>
            <a:endParaRPr lang="en-US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8224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4A0AB-3BD9-95F7-9154-82C9F6524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Failure Modes of GAN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8612B-D09D-C885-E293-0045AE29D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GANs consist of a generator and a discriminator in a competitive game.</a:t>
            </a:r>
          </a:p>
          <a:p>
            <a:r>
              <a:rPr lang="en-US" dirty="0"/>
              <a:t>Training instability is common, leading to two primary failure modes </a:t>
            </a:r>
          </a:p>
          <a:p>
            <a:r>
              <a:rPr lang="en-US" dirty="0"/>
              <a:t>Two Common Failure Modes:</a:t>
            </a:r>
          </a:p>
          <a:p>
            <a:pPr lvl="1"/>
            <a:r>
              <a:rPr lang="en-US" b="1" dirty="0"/>
              <a:t>Mode Collapse</a:t>
            </a:r>
            <a:r>
              <a:rPr lang="en-US" dirty="0"/>
              <a:t>: Limited variety in generated samples.</a:t>
            </a:r>
          </a:p>
          <a:p>
            <a:pPr lvl="1"/>
            <a:r>
              <a:rPr lang="en-US" b="1" dirty="0"/>
              <a:t>Convergence Failure</a:t>
            </a:r>
            <a:r>
              <a:rPr lang="en-US" dirty="0"/>
              <a:t>: Training does not lead to meaningful outputs.</a:t>
            </a:r>
          </a:p>
          <a:p>
            <a:r>
              <a:rPr lang="en-US" dirty="0"/>
              <a:t>Early detection by monitoring generated samples and loss metrics is key.</a:t>
            </a:r>
          </a:p>
          <a:p>
            <a:r>
              <a:rPr lang="en-US" b="1" dirty="0"/>
              <a:t>Why is GAN Training Unstable?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GANs operate as a two-player zero-sum game.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Balance between the generator and discriminator is critical.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Achieving Nash Equilibrium in a non-convex, high-dimensional space is challenging.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Small changes in one network can adversely affect the other.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910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Mode collapse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0992391" cy="55934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Mode collapse is a common problem that prevents GANs from learning </a:t>
            </a:r>
            <a:endParaRPr lang="en-US" sz="1200" dirty="0"/>
          </a:p>
          <a:p>
            <a:r>
              <a:rPr lang="en-US" dirty="0"/>
              <a:t> Mode collapse is a dead lock in the two-player game</a:t>
            </a:r>
          </a:p>
          <a:p>
            <a:r>
              <a:rPr lang="en-US" dirty="0"/>
              <a:t>Example: discriminator becomes too good at recognizing fake image and stops generator from learning  </a:t>
            </a:r>
          </a:p>
          <a:p>
            <a:r>
              <a:rPr lang="en-US" dirty="0"/>
              <a:t>Example: discriminator and generator alternate between modes of the loss function </a:t>
            </a:r>
          </a:p>
          <a:p>
            <a:r>
              <a:rPr lang="en-US" dirty="0"/>
              <a:t>Example: gradient of loss function becomes nearly zero – typically for generator</a:t>
            </a:r>
          </a:p>
        </p:txBody>
      </p:sp>
    </p:spTree>
    <p:extLst>
      <p:ext uri="{BB962C8B-B14F-4D97-AF65-F5344CB8AC3E}">
        <p14:creationId xmlns:p14="http://schemas.microsoft.com/office/powerpoint/2010/main" val="19099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6DDD0-6953-9B02-48A4-E9141E553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 Collapse in GANs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AA66F-6951-79D8-4055-FCE39C538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Definition:</a:t>
            </a:r>
          </a:p>
          <a:p>
            <a:pPr lvl="1"/>
            <a:r>
              <a:rPr lang="en-US" dirty="0"/>
              <a:t>The generator produces a narrow range of outputs instead of diverse samples.</a:t>
            </a:r>
          </a:p>
          <a:p>
            <a:r>
              <a:rPr lang="en-US" dirty="0"/>
              <a:t>Detection:</a:t>
            </a:r>
          </a:p>
          <a:p>
            <a:pPr lvl="1"/>
            <a:r>
              <a:rPr lang="en-US" dirty="0"/>
              <a:t>Repeatedly similar or identical generated samples.</a:t>
            </a:r>
          </a:p>
          <a:p>
            <a:r>
              <a:rPr lang="en-US" dirty="0"/>
              <a:t>Impact:</a:t>
            </a:r>
          </a:p>
          <a:p>
            <a:pPr lvl="1"/>
            <a:r>
              <a:rPr lang="en-US" dirty="0"/>
              <a:t>Limits the usefulness of the GAN for generating varied data.</a:t>
            </a:r>
          </a:p>
          <a:p>
            <a:r>
              <a:rPr lang="en-US" dirty="0"/>
              <a:t>Reasons Behind Mode Collapse</a:t>
            </a:r>
          </a:p>
          <a:p>
            <a:pPr lvl="1"/>
            <a:r>
              <a:rPr lang="en-US" dirty="0"/>
              <a:t>The generator fails to learn proper representations.</a:t>
            </a:r>
          </a:p>
          <a:p>
            <a:pPr lvl="1"/>
            <a:r>
              <a:rPr lang="en-US" dirty="0"/>
              <a:t>The discriminator may get stuck in a local minimum, providing poor feedback.</a:t>
            </a:r>
          </a:p>
          <a:p>
            <a:pPr lvl="1"/>
            <a:r>
              <a:rPr lang="en-US" dirty="0"/>
              <a:t>The output becomes nearly independent of the input noise (z).</a:t>
            </a:r>
          </a:p>
        </p:txBody>
      </p:sp>
    </p:spTree>
    <p:extLst>
      <p:ext uri="{BB962C8B-B14F-4D97-AF65-F5344CB8AC3E}">
        <p14:creationId xmlns:p14="http://schemas.microsoft.com/office/powerpoint/2010/main" val="3912938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10EFF-F3BE-824A-9E0D-FF661597D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Mode Collapse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C056F-C0E8-B5E8-2890-4713C767E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Wasserstein GAN with a new loss function to mitigate vanishing gradients.</a:t>
            </a:r>
          </a:p>
          <a:p>
            <a:r>
              <a:rPr lang="en-US" dirty="0"/>
              <a:t>Apply Unrolled GANs to provide feedback from multiple discriminator states.</a:t>
            </a:r>
          </a:p>
          <a:p>
            <a:r>
              <a:rPr lang="en-US" dirty="0"/>
              <a:t>Increase the dimensionality of the input noise vector (z).</a:t>
            </a:r>
          </a:p>
          <a:p>
            <a:r>
              <a:rPr lang="en-US" dirty="0"/>
              <a:t>Enhance the generator's complexity and adjust network depth.</a:t>
            </a:r>
          </a:p>
          <a:p>
            <a:r>
              <a:rPr lang="en-US" dirty="0"/>
              <a:t>Randomly assign false labels to challenge the discriminator.</a:t>
            </a:r>
          </a:p>
        </p:txBody>
      </p:sp>
    </p:spTree>
    <p:extLst>
      <p:ext uri="{BB962C8B-B14F-4D97-AF65-F5344CB8AC3E}">
        <p14:creationId xmlns:p14="http://schemas.microsoft.com/office/powerpoint/2010/main" val="37707839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5FD7D-56FD-A55D-64AE-0D193C808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Convergence Failure in GANs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57A96-EF6E-BDAB-87C6-A52B92FB5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Definition:</a:t>
            </a:r>
          </a:p>
          <a:p>
            <a:pPr lvl="1"/>
            <a:r>
              <a:rPr lang="en-US" dirty="0"/>
              <a:t>GAN training fails to converge, resulting in poor-quality outputs.</a:t>
            </a:r>
          </a:p>
          <a:p>
            <a:r>
              <a:rPr lang="en-US" dirty="0"/>
              <a:t>Indicators:</a:t>
            </a:r>
          </a:p>
          <a:p>
            <a:pPr lvl="1"/>
            <a:r>
              <a:rPr lang="en-US" dirty="0"/>
              <a:t>Discriminator loss drops to near zero and stays there.</a:t>
            </a:r>
          </a:p>
          <a:p>
            <a:pPr lvl="1"/>
            <a:r>
              <a:rPr lang="en-US" dirty="0"/>
              <a:t>Generator loss remains high or increases continuously.</a:t>
            </a:r>
          </a:p>
          <a:p>
            <a:pPr lvl="1"/>
            <a:r>
              <a:rPr lang="en-US" dirty="0"/>
              <a:t>Generated samples are trivial and easily flagged as fake.</a:t>
            </a:r>
          </a:p>
          <a:p>
            <a:r>
              <a:rPr lang="en-US" dirty="0"/>
              <a:t>Reasons Behind Convergence Failure</a:t>
            </a:r>
          </a:p>
          <a:p>
            <a:pPr lvl="1"/>
            <a:r>
              <a:rPr lang="en-US" dirty="0"/>
              <a:t>Scenario 1: A weak discriminator allows the generator to dominate despite poor quality outputs.</a:t>
            </a:r>
          </a:p>
          <a:p>
            <a:pPr lvl="1"/>
            <a:r>
              <a:rPr lang="en-US" dirty="0"/>
              <a:t>Scenario 2: An overly strong discriminator prevents the generator from learning by rejecting almost all outputs.</a:t>
            </a:r>
          </a:p>
          <a:p>
            <a:pPr lvl="1"/>
            <a:r>
              <a:rPr lang="en-US" dirty="0"/>
              <a:t>Both scenarios indicate a lack of balance between the networks.</a:t>
            </a:r>
          </a:p>
        </p:txBody>
      </p:sp>
    </p:spTree>
    <p:extLst>
      <p:ext uri="{BB962C8B-B14F-4D97-AF65-F5344CB8AC3E}">
        <p14:creationId xmlns:p14="http://schemas.microsoft.com/office/powerpoint/2010/main" val="3261867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1233F-C704-01A2-9025-280F62F0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Solving Convergence Failure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5C1D7-2DDC-19B6-8D8E-5C16DECEC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Balancing the Networks:</a:t>
            </a:r>
          </a:p>
          <a:p>
            <a:r>
              <a:rPr lang="en-US" dirty="0"/>
              <a:t>If the Generator Dominates:</a:t>
            </a:r>
          </a:p>
          <a:p>
            <a:pPr lvl="1"/>
            <a:r>
              <a:rPr lang="en-US" dirty="0"/>
              <a:t>Deepen the discriminator to better reject fake samples.</a:t>
            </a:r>
          </a:p>
          <a:p>
            <a:pPr lvl="1"/>
            <a:r>
              <a:rPr lang="en-US" dirty="0"/>
              <a:t>Add dropout layers to the generator to slow its learning.</a:t>
            </a:r>
          </a:p>
          <a:p>
            <a:pPr lvl="1"/>
            <a:r>
              <a:rPr lang="en-US" dirty="0"/>
              <a:t>Simplify the generator by removing some layers.</a:t>
            </a:r>
          </a:p>
          <a:p>
            <a:r>
              <a:rPr lang="en-US" dirty="0"/>
              <a:t>If the Discriminator Dominates:</a:t>
            </a:r>
          </a:p>
          <a:p>
            <a:pPr lvl="1"/>
            <a:r>
              <a:rPr lang="en-US" dirty="0"/>
              <a:t>Impair the discriminator by assigning false labels to real images.</a:t>
            </a:r>
          </a:p>
          <a:p>
            <a:pPr lvl="1"/>
            <a:r>
              <a:rPr lang="en-US" dirty="0"/>
              <a:t>Apply regularization techniques (e.g., dropout) to the discriminator.</a:t>
            </a:r>
          </a:p>
          <a:p>
            <a:pPr lvl="1"/>
            <a:r>
              <a:rPr lang="en-US" dirty="0"/>
              <a:t>Enhance the generator’s architecture to learn more complex representations.</a:t>
            </a:r>
          </a:p>
          <a:p>
            <a:pPr lvl="1"/>
            <a:r>
              <a:rPr lang="en-US" dirty="0"/>
              <a:t>Simplify the discriminator if it is learning too quickly.</a:t>
            </a:r>
          </a:p>
        </p:txBody>
      </p:sp>
    </p:spTree>
    <p:extLst>
      <p:ext uri="{BB962C8B-B14F-4D97-AF65-F5344CB8AC3E}">
        <p14:creationId xmlns:p14="http://schemas.microsoft.com/office/powerpoint/2010/main" val="6169454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E89FD-BAE6-0918-BABB-E363F7EC0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953577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Loss Functions for GANs</a:t>
            </a:r>
          </a:p>
        </p:txBody>
      </p:sp>
    </p:spTree>
    <p:extLst>
      <p:ext uri="{BB962C8B-B14F-4D97-AF65-F5344CB8AC3E}">
        <p14:creationId xmlns:p14="http://schemas.microsoft.com/office/powerpoint/2010/main" val="14737194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53A2-598A-4DD7-80C8-28094305E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74638"/>
            <a:ext cx="10515600" cy="715962"/>
          </a:xfrm>
        </p:spPr>
        <p:txBody>
          <a:bodyPr>
            <a:normAutofit/>
          </a:bodyPr>
          <a:lstStyle/>
          <a:p>
            <a:r>
              <a:rPr lang="en-US" dirty="0"/>
              <a:t>Loss Functions for Training Neural Networks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D79349-62D4-418A-8328-7BCEB2B0A95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79413" y="1388226"/>
                <a:ext cx="11525250" cy="529038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Need the distribution of the generated data be the same the real data</a:t>
                </a:r>
              </a:p>
              <a:p>
                <a:r>
                  <a:rPr lang="en-US" dirty="0"/>
                  <a:t>The </a:t>
                </a:r>
                <a:r>
                  <a:rPr lang="en-US" dirty="0" err="1"/>
                  <a:t>Kullback-Leibler</a:t>
                </a:r>
                <a:r>
                  <a:rPr lang="en-US" dirty="0"/>
                  <a:t> divergence between two the distributions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en-US" dirty="0"/>
                  <a:t>is such a measure: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D79349-62D4-418A-8328-7BCEB2B0A9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79413" y="1388226"/>
                <a:ext cx="11525250" cy="5290388"/>
              </a:xfrm>
              <a:blipFill>
                <a:blip r:embed="rId3"/>
                <a:stretch>
                  <a:fillRect l="-1216" t="-2419" r="-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A2910A7E-39A9-BB62-F151-848976C7A0F0}"/>
              </a:ext>
            </a:extLst>
          </p:cNvPr>
          <p:cNvSpPr/>
          <p:nvPr/>
        </p:nvSpPr>
        <p:spPr>
          <a:xfrm>
            <a:off x="2819400" y="4378199"/>
            <a:ext cx="2092570" cy="1817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D339B2-B24E-F400-45A5-1E2842540A32}"/>
              </a:ext>
            </a:extLst>
          </p:cNvPr>
          <p:cNvCxnSpPr>
            <a:cxnSpLocks/>
          </p:cNvCxnSpPr>
          <p:nvPr/>
        </p:nvCxnSpPr>
        <p:spPr>
          <a:xfrm>
            <a:off x="2743200" y="5456723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ED384F-5B9A-CA4E-C8CC-E76F34EB589F}"/>
              </a:ext>
            </a:extLst>
          </p:cNvPr>
          <p:cNvCxnSpPr>
            <a:cxnSpLocks/>
          </p:cNvCxnSpPr>
          <p:nvPr/>
        </p:nvCxnSpPr>
        <p:spPr>
          <a:xfrm>
            <a:off x="2743200" y="5831861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912594A-4E07-E594-D274-40A2494D46EA}"/>
              </a:ext>
            </a:extLst>
          </p:cNvPr>
          <p:cNvCxnSpPr>
            <a:cxnSpLocks/>
          </p:cNvCxnSpPr>
          <p:nvPr/>
        </p:nvCxnSpPr>
        <p:spPr>
          <a:xfrm>
            <a:off x="2743200" y="5069861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9547B81-E0F6-7029-3EF3-3307BAFCA653}"/>
              </a:ext>
            </a:extLst>
          </p:cNvPr>
          <p:cNvCxnSpPr>
            <a:cxnSpLocks/>
          </p:cNvCxnSpPr>
          <p:nvPr/>
        </p:nvCxnSpPr>
        <p:spPr>
          <a:xfrm>
            <a:off x="2743200" y="4718170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F14BF4-6DB0-C00B-C4BF-9A2C2F209C85}"/>
              </a:ext>
            </a:extLst>
          </p:cNvPr>
          <p:cNvCxnSpPr>
            <a:cxnSpLocks/>
          </p:cNvCxnSpPr>
          <p:nvPr/>
        </p:nvCxnSpPr>
        <p:spPr>
          <a:xfrm flipV="1">
            <a:off x="3229708" y="4378199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396732-9101-4E42-862F-4B629D343B3B}"/>
              </a:ext>
            </a:extLst>
          </p:cNvPr>
          <p:cNvCxnSpPr>
            <a:cxnSpLocks/>
          </p:cNvCxnSpPr>
          <p:nvPr/>
        </p:nvCxnSpPr>
        <p:spPr>
          <a:xfrm flipV="1">
            <a:off x="3651739" y="4378199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32879B-FF48-5CF0-127B-F702F4C4F14A}"/>
              </a:ext>
            </a:extLst>
          </p:cNvPr>
          <p:cNvCxnSpPr>
            <a:cxnSpLocks/>
          </p:cNvCxnSpPr>
          <p:nvPr/>
        </p:nvCxnSpPr>
        <p:spPr>
          <a:xfrm flipV="1">
            <a:off x="4073770" y="4378199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EFC7C7-B197-AAB0-747C-B9989F3D3ACA}"/>
              </a:ext>
            </a:extLst>
          </p:cNvPr>
          <p:cNvCxnSpPr>
            <a:cxnSpLocks/>
          </p:cNvCxnSpPr>
          <p:nvPr/>
        </p:nvCxnSpPr>
        <p:spPr>
          <a:xfrm flipV="1">
            <a:off x="4525107" y="4378199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63B6163-A238-EEFD-90CB-82C55F3BC6A4}"/>
              </a:ext>
            </a:extLst>
          </p:cNvPr>
          <p:cNvSpPr txBox="1"/>
          <p:nvPr/>
        </p:nvSpPr>
        <p:spPr>
          <a:xfrm>
            <a:off x="2664071" y="6233345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61350E-796D-C765-0CFA-8DE61D1170FA}"/>
              </a:ext>
            </a:extLst>
          </p:cNvPr>
          <p:cNvSpPr txBox="1"/>
          <p:nvPr/>
        </p:nvSpPr>
        <p:spPr>
          <a:xfrm>
            <a:off x="3059723" y="6224530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6FA432-3F25-ACFE-266E-D0C5FB4A5273}"/>
              </a:ext>
            </a:extLst>
          </p:cNvPr>
          <p:cNvSpPr txBox="1"/>
          <p:nvPr/>
        </p:nvSpPr>
        <p:spPr>
          <a:xfrm>
            <a:off x="3481753" y="6233345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12B60B-5400-3BDA-0BFE-D5FE7487EE5B}"/>
              </a:ext>
            </a:extLst>
          </p:cNvPr>
          <p:cNvSpPr txBox="1"/>
          <p:nvPr/>
        </p:nvSpPr>
        <p:spPr>
          <a:xfrm>
            <a:off x="3903783" y="6242160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9EB11C-DAA7-C339-EE4A-5096AF640A1F}"/>
              </a:ext>
            </a:extLst>
          </p:cNvPr>
          <p:cNvSpPr txBox="1"/>
          <p:nvPr/>
        </p:nvSpPr>
        <p:spPr>
          <a:xfrm>
            <a:off x="4325813" y="6250975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DCC6ED-A5A7-DE23-A5C3-FB7FCDAE8901}"/>
              </a:ext>
            </a:extLst>
          </p:cNvPr>
          <p:cNvSpPr txBox="1"/>
          <p:nvPr/>
        </p:nvSpPr>
        <p:spPr>
          <a:xfrm>
            <a:off x="2414953" y="5660313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F3B445-C958-A6D8-46AB-3910C84121FA}"/>
              </a:ext>
            </a:extLst>
          </p:cNvPr>
          <p:cNvSpPr txBox="1"/>
          <p:nvPr/>
        </p:nvSpPr>
        <p:spPr>
          <a:xfrm>
            <a:off x="2412022" y="5273451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E44A65-3854-44FE-AA56-8826BE79F6CE}"/>
              </a:ext>
            </a:extLst>
          </p:cNvPr>
          <p:cNvSpPr txBox="1"/>
          <p:nvPr/>
        </p:nvSpPr>
        <p:spPr>
          <a:xfrm>
            <a:off x="2417881" y="4877831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D84543-1FA5-47A7-5B1B-CC50B9163B95}"/>
              </a:ext>
            </a:extLst>
          </p:cNvPr>
          <p:cNvSpPr txBox="1"/>
          <p:nvPr/>
        </p:nvSpPr>
        <p:spPr>
          <a:xfrm>
            <a:off x="2403231" y="4540706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FD6931E-BFEF-83A2-186B-160FB8C05A9C}"/>
              </a:ext>
            </a:extLst>
          </p:cNvPr>
          <p:cNvSpPr/>
          <p:nvPr/>
        </p:nvSpPr>
        <p:spPr>
          <a:xfrm>
            <a:off x="6834763" y="4338624"/>
            <a:ext cx="2092570" cy="1817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ADE5A6F-A1AA-6C56-B3D6-A53FD980020D}"/>
              </a:ext>
            </a:extLst>
          </p:cNvPr>
          <p:cNvCxnSpPr>
            <a:cxnSpLocks/>
          </p:cNvCxnSpPr>
          <p:nvPr/>
        </p:nvCxnSpPr>
        <p:spPr>
          <a:xfrm>
            <a:off x="6758563" y="5417148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E692D22-24A6-DA18-FF70-6ACD04CEC27D}"/>
              </a:ext>
            </a:extLst>
          </p:cNvPr>
          <p:cNvCxnSpPr>
            <a:cxnSpLocks/>
          </p:cNvCxnSpPr>
          <p:nvPr/>
        </p:nvCxnSpPr>
        <p:spPr>
          <a:xfrm>
            <a:off x="6758563" y="5792286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9065D8A-590D-A3A0-8421-8DC667D485E9}"/>
              </a:ext>
            </a:extLst>
          </p:cNvPr>
          <p:cNvCxnSpPr>
            <a:cxnSpLocks/>
          </p:cNvCxnSpPr>
          <p:nvPr/>
        </p:nvCxnSpPr>
        <p:spPr>
          <a:xfrm>
            <a:off x="6758563" y="5030286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0B57FB-F5C7-0881-8F3F-9A9C0260AB78}"/>
              </a:ext>
            </a:extLst>
          </p:cNvPr>
          <p:cNvCxnSpPr>
            <a:cxnSpLocks/>
          </p:cNvCxnSpPr>
          <p:nvPr/>
        </p:nvCxnSpPr>
        <p:spPr>
          <a:xfrm>
            <a:off x="6758563" y="4678595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69929D-041C-FD16-2EB2-02CC03FBB65D}"/>
              </a:ext>
            </a:extLst>
          </p:cNvPr>
          <p:cNvCxnSpPr>
            <a:cxnSpLocks/>
          </p:cNvCxnSpPr>
          <p:nvPr/>
        </p:nvCxnSpPr>
        <p:spPr>
          <a:xfrm flipV="1">
            <a:off x="7245071" y="4338624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3FF787D-47D0-0BFC-822A-32EE51FA914A}"/>
              </a:ext>
            </a:extLst>
          </p:cNvPr>
          <p:cNvCxnSpPr>
            <a:cxnSpLocks/>
          </p:cNvCxnSpPr>
          <p:nvPr/>
        </p:nvCxnSpPr>
        <p:spPr>
          <a:xfrm flipV="1">
            <a:off x="7667102" y="4338624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095DDC9-3D06-C034-DC99-7FC96FFE8C9D}"/>
              </a:ext>
            </a:extLst>
          </p:cNvPr>
          <p:cNvCxnSpPr>
            <a:cxnSpLocks/>
          </p:cNvCxnSpPr>
          <p:nvPr/>
        </p:nvCxnSpPr>
        <p:spPr>
          <a:xfrm flipV="1">
            <a:off x="8089133" y="4338624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EFCBD2A-353A-7478-2F7D-1543CE08262A}"/>
              </a:ext>
            </a:extLst>
          </p:cNvPr>
          <p:cNvCxnSpPr>
            <a:cxnSpLocks/>
          </p:cNvCxnSpPr>
          <p:nvPr/>
        </p:nvCxnSpPr>
        <p:spPr>
          <a:xfrm flipV="1">
            <a:off x="8540470" y="4338624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2F0578B-CF30-722A-B91D-46DB377855D0}"/>
              </a:ext>
            </a:extLst>
          </p:cNvPr>
          <p:cNvSpPr txBox="1"/>
          <p:nvPr/>
        </p:nvSpPr>
        <p:spPr>
          <a:xfrm>
            <a:off x="6679434" y="6193770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69D635-CC30-B81D-301B-6265F1BEDD6E}"/>
              </a:ext>
            </a:extLst>
          </p:cNvPr>
          <p:cNvSpPr txBox="1"/>
          <p:nvPr/>
        </p:nvSpPr>
        <p:spPr>
          <a:xfrm>
            <a:off x="7075086" y="6184955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0584C6-E1C8-BC2D-E5E5-7633CD882134}"/>
              </a:ext>
            </a:extLst>
          </p:cNvPr>
          <p:cNvSpPr txBox="1"/>
          <p:nvPr/>
        </p:nvSpPr>
        <p:spPr>
          <a:xfrm>
            <a:off x="7497116" y="6193770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4DCD07-1926-2750-1D11-30441B3A2831}"/>
              </a:ext>
            </a:extLst>
          </p:cNvPr>
          <p:cNvSpPr txBox="1"/>
          <p:nvPr/>
        </p:nvSpPr>
        <p:spPr>
          <a:xfrm>
            <a:off x="7919146" y="6202585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D29804-A844-866F-2ED6-BDE63DD43D48}"/>
              </a:ext>
            </a:extLst>
          </p:cNvPr>
          <p:cNvSpPr txBox="1"/>
          <p:nvPr/>
        </p:nvSpPr>
        <p:spPr>
          <a:xfrm>
            <a:off x="8341176" y="6211400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3074A1-F230-ED27-865E-36782AEECF7D}"/>
              </a:ext>
            </a:extLst>
          </p:cNvPr>
          <p:cNvSpPr txBox="1"/>
          <p:nvPr/>
        </p:nvSpPr>
        <p:spPr>
          <a:xfrm>
            <a:off x="6430316" y="5620738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6B265B-9AA8-A9F0-21F3-8178D9B60A04}"/>
              </a:ext>
            </a:extLst>
          </p:cNvPr>
          <p:cNvSpPr txBox="1"/>
          <p:nvPr/>
        </p:nvSpPr>
        <p:spPr>
          <a:xfrm>
            <a:off x="6427385" y="5233876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B8E696-F46E-8206-8FFD-FA4446A2C6F3}"/>
              </a:ext>
            </a:extLst>
          </p:cNvPr>
          <p:cNvSpPr txBox="1"/>
          <p:nvPr/>
        </p:nvSpPr>
        <p:spPr>
          <a:xfrm>
            <a:off x="6433244" y="4838256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F27DB5E-38A7-545D-9A69-682282FE6CD9}"/>
              </a:ext>
            </a:extLst>
          </p:cNvPr>
          <p:cNvSpPr txBox="1"/>
          <p:nvPr/>
        </p:nvSpPr>
        <p:spPr>
          <a:xfrm>
            <a:off x="6418594" y="4501131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C0C0D1E-F4F3-95C4-5A22-5F0745EA6BA6}"/>
              </a:ext>
            </a:extLst>
          </p:cNvPr>
          <p:cNvSpPr/>
          <p:nvPr/>
        </p:nvSpPr>
        <p:spPr>
          <a:xfrm>
            <a:off x="3059723" y="5825944"/>
            <a:ext cx="322377" cy="369332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E386A1D-1F68-09ED-9363-537582FED7B0}"/>
              </a:ext>
            </a:extLst>
          </p:cNvPr>
          <p:cNvSpPr/>
          <p:nvPr/>
        </p:nvSpPr>
        <p:spPr>
          <a:xfrm>
            <a:off x="3487627" y="5444998"/>
            <a:ext cx="334095" cy="750277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D7D721C-CBCD-C273-9097-C84D36B667BC}"/>
              </a:ext>
            </a:extLst>
          </p:cNvPr>
          <p:cNvSpPr/>
          <p:nvPr/>
        </p:nvSpPr>
        <p:spPr>
          <a:xfrm>
            <a:off x="3906717" y="4718170"/>
            <a:ext cx="337031" cy="1477106"/>
          </a:xfrm>
          <a:prstGeom prst="rect">
            <a:avLst/>
          </a:prstGeom>
          <a:solidFill>
            <a:schemeClr val="accent1"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CBF22BD-7805-5C5E-38B1-256E41DF6A6B}"/>
              </a:ext>
            </a:extLst>
          </p:cNvPr>
          <p:cNvSpPr/>
          <p:nvPr/>
        </p:nvSpPr>
        <p:spPr>
          <a:xfrm>
            <a:off x="4330214" y="5058142"/>
            <a:ext cx="364867" cy="113713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5402259-1099-028D-F15D-1771535C5AA5}"/>
              </a:ext>
            </a:extLst>
          </p:cNvPr>
          <p:cNvSpPr/>
          <p:nvPr/>
        </p:nvSpPr>
        <p:spPr>
          <a:xfrm>
            <a:off x="7080953" y="5021783"/>
            <a:ext cx="366331" cy="1128424"/>
          </a:xfrm>
          <a:prstGeom prst="rect">
            <a:avLst/>
          </a:prstGeom>
          <a:solidFill>
            <a:srgbClr val="FF00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5B76FE5-EDD6-9787-BA14-5EB62231900E}"/>
              </a:ext>
            </a:extLst>
          </p:cNvPr>
          <p:cNvSpPr/>
          <p:nvPr/>
        </p:nvSpPr>
        <p:spPr>
          <a:xfrm>
            <a:off x="7526446" y="5428868"/>
            <a:ext cx="342868" cy="718018"/>
          </a:xfrm>
          <a:prstGeom prst="rect">
            <a:avLst/>
          </a:prstGeom>
          <a:solidFill>
            <a:srgbClr val="FF00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3C85D9E-BC17-84D9-83DD-3BFD4F049CCE}"/>
              </a:ext>
            </a:extLst>
          </p:cNvPr>
          <p:cNvSpPr/>
          <p:nvPr/>
        </p:nvSpPr>
        <p:spPr>
          <a:xfrm>
            <a:off x="7963155" y="5800450"/>
            <a:ext cx="339967" cy="355252"/>
          </a:xfrm>
          <a:prstGeom prst="rect">
            <a:avLst/>
          </a:prstGeom>
          <a:solidFill>
            <a:srgbClr val="FF00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960655B-DD30-E68B-221A-D2ABB3763455}"/>
              </a:ext>
            </a:extLst>
          </p:cNvPr>
          <p:cNvSpPr/>
          <p:nvPr/>
        </p:nvSpPr>
        <p:spPr>
          <a:xfrm>
            <a:off x="8405670" y="4690315"/>
            <a:ext cx="354593" cy="1477105"/>
          </a:xfrm>
          <a:prstGeom prst="rect">
            <a:avLst/>
          </a:prstGeom>
          <a:solidFill>
            <a:srgbClr val="FF00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5386D33-7A6B-3070-EEDE-98A32884BA5E}"/>
              </a:ext>
            </a:extLst>
          </p:cNvPr>
          <p:cNvSpPr txBox="1"/>
          <p:nvPr/>
        </p:nvSpPr>
        <p:spPr>
          <a:xfrm>
            <a:off x="1549038" y="5089397"/>
            <a:ext cx="9612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P(x)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1AAC528-AD76-8967-8959-861DE34B7040}"/>
              </a:ext>
            </a:extLst>
          </p:cNvPr>
          <p:cNvSpPr txBox="1"/>
          <p:nvPr/>
        </p:nvSpPr>
        <p:spPr>
          <a:xfrm>
            <a:off x="5221040" y="5047493"/>
            <a:ext cx="9612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Q(x)</a:t>
            </a:r>
          </a:p>
        </p:txBody>
      </p:sp>
    </p:spTree>
    <p:extLst>
      <p:ext uri="{BB962C8B-B14F-4D97-AF65-F5344CB8AC3E}">
        <p14:creationId xmlns:p14="http://schemas.microsoft.com/office/powerpoint/2010/main" val="806810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 animBg="1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/>
      <p:bldP spid="5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5E221-7FAC-7F8E-6C0E-EF736D66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Kullback-Leibler</a:t>
            </a:r>
            <a:r>
              <a:rPr lang="en-US" dirty="0"/>
              <a:t> Divergence (KL Divergence)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325A3-07BA-110E-F935-FBB23326782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KL Divergence </a:t>
            </a:r>
            <a:r>
              <a:rPr lang="th-TH" dirty="0"/>
              <a:t>คือการวัดความแตกต่างระหว่างสองการแจกแจงความน่าจะเป็น (</a:t>
            </a:r>
            <a:r>
              <a:rPr lang="en-US" dirty="0"/>
              <a:t>probability distributions) P </a:t>
            </a:r>
            <a:r>
              <a:rPr lang="th-TH" dirty="0"/>
              <a:t>และ </a:t>
            </a:r>
            <a:r>
              <a:rPr lang="en-US" dirty="0"/>
              <a:t>Q </a:t>
            </a:r>
            <a:r>
              <a:rPr lang="th-TH" dirty="0"/>
              <a:t>โดยวัดว่า </a:t>
            </a:r>
            <a:r>
              <a:rPr lang="en-US" dirty="0"/>
              <a:t>Q </a:t>
            </a:r>
            <a:r>
              <a:rPr lang="th-TH" dirty="0"/>
              <a:t>แตกต่างจาก </a:t>
            </a:r>
            <a:r>
              <a:rPr lang="en-US" dirty="0"/>
              <a:t>P </a:t>
            </a:r>
            <a:r>
              <a:rPr lang="th-TH" dirty="0"/>
              <a:t>มากเพียงใด</a:t>
            </a:r>
          </a:p>
          <a:p>
            <a:endParaRPr lang="th-TH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48BEE9-4F02-9D56-D1E6-30AAACAF4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514600"/>
            <a:ext cx="7391400" cy="3895083"/>
          </a:xfrm>
          <a:prstGeom prst="roundRect">
            <a:avLst>
              <a:gd name="adj" fmla="val 8367"/>
            </a:avLst>
          </a:prstGeom>
        </p:spPr>
      </p:pic>
    </p:spTree>
    <p:extLst>
      <p:ext uri="{BB962C8B-B14F-4D97-AF65-F5344CB8AC3E}">
        <p14:creationId xmlns:p14="http://schemas.microsoft.com/office/powerpoint/2010/main" val="27157718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A0566-580C-9EFB-F174-DE48E1210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Kullback-Leibler</a:t>
            </a:r>
            <a:r>
              <a:rPr lang="en-US" dirty="0"/>
              <a:t> Divergence (KL Divergence)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3D4252-5757-4FBC-12CB-21C2E737826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447800" y="1167908"/>
            <a:ext cx="7945605" cy="4849613"/>
          </a:xfrm>
        </p:spPr>
      </p:pic>
    </p:spTree>
    <p:extLst>
      <p:ext uri="{BB962C8B-B14F-4D97-AF65-F5344CB8AC3E}">
        <p14:creationId xmlns:p14="http://schemas.microsoft.com/office/powerpoint/2010/main" val="14695762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53A2-598A-4DD7-80C8-28094305E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33498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The Wasserstein distance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79349-62D4-418A-8328-7BCEB2B0A95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15715"/>
            <a:ext cx="11525250" cy="557001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+mn-lt"/>
                <a:cs typeface="Segoe UI" panose="020B0502040204020203" pitchFamily="34" charset="0"/>
              </a:rPr>
              <a:t>The </a:t>
            </a:r>
            <a:r>
              <a:rPr lang="en-US" sz="2800" dirty="0">
                <a:latin typeface="+mn-lt"/>
                <a:cs typeface="Segoe UI" panose="020B0502040204020203" pitchFamily="34" charset="0"/>
                <a:hlinkClick r:id="rId3"/>
              </a:rPr>
              <a:t>Wasserstein distance metric</a:t>
            </a:r>
            <a:r>
              <a:rPr lang="en-US" sz="2800" dirty="0">
                <a:latin typeface="+mn-lt"/>
                <a:cs typeface="Segoe UI" panose="020B0502040204020203" pitchFamily="34" charset="0"/>
              </a:rPr>
              <a:t> is symmetric and intuitive </a:t>
            </a:r>
          </a:p>
          <a:p>
            <a:r>
              <a:rPr lang="en-US" sz="2800" dirty="0">
                <a:latin typeface="+mn-lt"/>
                <a:cs typeface="Segoe UI" panose="020B0502040204020203" pitchFamily="34" charset="0"/>
              </a:rPr>
              <a:t>The Wasserstein distance metric symmetric with bounded gradients  </a:t>
            </a:r>
          </a:p>
          <a:p>
            <a:r>
              <a:rPr lang="en-US" sz="2800" dirty="0">
                <a:latin typeface="+mn-lt"/>
                <a:cs typeface="Segoe UI" panose="020B0502040204020203" pitchFamily="34" charset="0"/>
              </a:rPr>
              <a:t>Wasserstein GAN, or W-GAN (</a:t>
            </a:r>
            <a:r>
              <a:rPr lang="en-US" sz="2800" dirty="0" err="1">
                <a:latin typeface="+mn-lt"/>
                <a:cs typeface="Segoe UI" panose="020B0502040204020203" pitchFamily="34" charset="0"/>
                <a:hlinkClick r:id="rId4"/>
              </a:rPr>
              <a:t>Arjovsky</a:t>
            </a:r>
            <a:r>
              <a:rPr lang="en-US" sz="2800" dirty="0">
                <a:latin typeface="+mn-lt"/>
                <a:cs typeface="Segoe UI" panose="020B0502040204020203" pitchFamily="34" charset="0"/>
                <a:hlinkClick r:id="rId4"/>
              </a:rPr>
              <a:t>, et. al. 2017</a:t>
            </a:r>
            <a:r>
              <a:rPr lang="en-US" sz="2800" dirty="0">
                <a:latin typeface="+mn-lt"/>
                <a:cs typeface="Segoe UI" panose="020B0502040204020203" pitchFamily="34" charset="0"/>
              </a:rPr>
              <a:t>) uses the Wasserstein distance as a loss function</a:t>
            </a:r>
          </a:p>
          <a:p>
            <a:r>
              <a:rPr lang="en-US" sz="2800" dirty="0">
                <a:latin typeface="+mn-lt"/>
                <a:cs typeface="Segoe UI" panose="020B0502040204020203" pitchFamily="34" charset="0"/>
              </a:rPr>
              <a:t>Using the Wasserstein loss helps W-GANs avoid mode collapse </a:t>
            </a:r>
          </a:p>
        </p:txBody>
      </p:sp>
    </p:spTree>
    <p:extLst>
      <p:ext uri="{BB962C8B-B14F-4D97-AF65-F5344CB8AC3E}">
        <p14:creationId xmlns:p14="http://schemas.microsoft.com/office/powerpoint/2010/main" val="4251803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5B60A-352E-82AE-3056-67C9D1A8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The Wasserstein distance metric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0C9BF0-E74D-4338-DC03-6FB988E6DB4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800" dirty="0"/>
                  <a:t>Wasserstein distance </a:t>
                </a:r>
                <a:r>
                  <a:rPr lang="th-TH" sz="2800" dirty="0"/>
                  <a:t>คือการวัดระยะห่างระหว่างการแจกแจงความน่าจะเป็นสองตัว โดยมีชื่อเรียกอีกอย่างว่า </a:t>
                </a:r>
                <a:r>
                  <a:rPr lang="en-US" sz="2800" dirty="0"/>
                  <a:t>Earth Mover's Distance (EMD)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th-TH" sz="2800" dirty="0"/>
                  <a:t>ความหมาย</a:t>
                </a:r>
              </a:p>
              <a:p>
                <a:pPr>
                  <a:spcBef>
                    <a:spcPts val="0"/>
                  </a:spcBef>
                </a:pPr>
                <a:r>
                  <a:rPr lang="th-TH" sz="2800" dirty="0"/>
                  <a:t>คิดว่ามีกองดินสองกอง (แทนการแจกแจงความน่าจะเป็น) </a:t>
                </a:r>
                <a:r>
                  <a:rPr lang="en-US" sz="2800" dirty="0"/>
                  <a:t>Wasserstein distance </a:t>
                </a:r>
                <a:r>
                  <a:rPr lang="th-TH" sz="2800" dirty="0"/>
                  <a:t>คือพลังงานน้อยที่สุดที่ต้องใช้ในการเคลื่อนย้ายดินจากกองหนึ่งไปสร้างอีกกองหนึ่ง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th-TH" sz="2800" dirty="0"/>
                  <a:t>สูตรทางคณิตศาสตร์</a:t>
                </a:r>
              </a:p>
              <a:p>
                <a:pPr>
                  <a:spcBef>
                    <a:spcPts val="0"/>
                  </a:spcBef>
                </a:pPr>
                <a:r>
                  <a:rPr lang="th-TH" sz="2800" dirty="0"/>
                  <a:t>สำหรับการแจกแจง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th-TH" sz="2800" dirty="0"/>
                  <a:t> และ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𝜐</m:t>
                    </m:r>
                  </m:oMath>
                </a14:m>
                <a:r>
                  <a:rPr lang="en-US" sz="2800" dirty="0"/>
                  <a:t>: </a:t>
                </a:r>
              </a:p>
              <a:p>
                <a:pPr>
                  <a:spcBef>
                    <a:spcPts val="0"/>
                  </a:spcBef>
                </a:pPr>
                <a:endParaRPr lang="en-US" sz="2800" dirty="0"/>
              </a:p>
              <a:p>
                <a:pPr>
                  <a:spcBef>
                    <a:spcPts val="0"/>
                  </a:spcBef>
                </a:pPr>
                <a:endParaRPr lang="en-US" sz="2800" dirty="0"/>
              </a:p>
              <a:p>
                <a:pPr>
                  <a:spcBef>
                    <a:spcPts val="0"/>
                  </a:spcBef>
                </a:pPr>
                <a:endParaRPr lang="en-US" sz="2800" dirty="0"/>
              </a:p>
              <a:p>
                <a:pPr>
                  <a:spcBef>
                    <a:spcPts val="0"/>
                  </a:spcBef>
                </a:pPr>
                <a:r>
                  <a:rPr lang="th-TH" sz="2800" dirty="0"/>
                  <a:t>โดย </a:t>
                </a:r>
                <a:r>
                  <a:rPr lang="el-GR" sz="2800" dirty="0"/>
                  <a:t>Γ(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800" dirty="0"/>
                  <a:t>,</a:t>
                </a:r>
                <a:r>
                  <a:rPr lang="en-US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𝜐</m:t>
                    </m:r>
                  </m:oMath>
                </a14:m>
                <a:r>
                  <a:rPr lang="en-US" sz="2800" dirty="0"/>
                  <a:t>) </a:t>
                </a:r>
                <a:r>
                  <a:rPr lang="th-TH" sz="2800" dirty="0"/>
                  <a:t>คือเซตของการจับคู่ (</a:t>
                </a:r>
                <a:r>
                  <a:rPr lang="en-US" sz="2800" dirty="0"/>
                  <a:t>coupling) </a:t>
                </a:r>
                <a:r>
                  <a:rPr lang="th-TH" sz="2800" dirty="0"/>
                  <a:t>ที่เป็นไปได้ทั้งหมดระหว่าง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800" dirty="0"/>
                  <a:t> </a:t>
                </a:r>
                <a:r>
                  <a:rPr lang="th-TH" sz="2800" dirty="0"/>
                  <a:t>และ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𝜐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0C9BF0-E74D-4338-DC03-6FB988E6DB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1058" t="-1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1B15805-BAD6-8B3E-6C1A-09A3DE967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4572000"/>
            <a:ext cx="4083260" cy="74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9724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22371-7333-A88F-6B85-42810BDB9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4065B-645A-A21C-6F8A-1677682AC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The Wasserstein distance metric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FDF41-617E-60CB-346C-0810C0FD1A0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th-TH" sz="2800" dirty="0"/>
              <a:t>คุณสมบัติสำคัญ</a:t>
            </a:r>
          </a:p>
          <a:p>
            <a:pPr lvl="1">
              <a:spcBef>
                <a:spcPts val="0"/>
              </a:spcBef>
            </a:pPr>
            <a:r>
              <a:rPr lang="th-TH" sz="2400" dirty="0"/>
              <a:t>เป็น </a:t>
            </a:r>
            <a:r>
              <a:rPr lang="en-US" sz="2400" dirty="0"/>
              <a:t>metric </a:t>
            </a:r>
            <a:r>
              <a:rPr lang="th-TH" sz="2400" dirty="0"/>
              <a:t>จริงๆ (มีคุณสมบัติสมมาตรและสามเหลี่ยม)</a:t>
            </a:r>
          </a:p>
          <a:p>
            <a:pPr lvl="1">
              <a:spcBef>
                <a:spcPts val="0"/>
              </a:spcBef>
            </a:pPr>
            <a:r>
              <a:rPr lang="th-TH" sz="2400" dirty="0"/>
              <a:t>วัดระยะห่างได้แม้การแจกแจงไม่ทับซ้อนกัน</a:t>
            </a:r>
          </a:p>
          <a:p>
            <a:pPr lvl="1">
              <a:spcBef>
                <a:spcPts val="0"/>
              </a:spcBef>
            </a:pPr>
            <a:r>
              <a:rPr lang="th-TH" sz="2400" dirty="0"/>
              <a:t>ให้การเทียบเคียงที่สมเหตุสมผลระหว่างการแจกแจงที่มีลักษณะคล้ายกันแต่ไม่ทับซ้อน</a:t>
            </a:r>
          </a:p>
          <a:p>
            <a:pPr>
              <a:spcBef>
                <a:spcPts val="0"/>
              </a:spcBef>
            </a:pPr>
            <a:r>
              <a:rPr lang="th-TH" sz="2800" dirty="0"/>
              <a:t>การประยุกต์ใช้</a:t>
            </a:r>
          </a:p>
          <a:p>
            <a:pPr lvl="1">
              <a:spcBef>
                <a:spcPts val="0"/>
              </a:spcBef>
            </a:pPr>
            <a:r>
              <a:rPr lang="en-US" sz="2400" dirty="0"/>
              <a:t>Wasserstein GAN (WGAN) - </a:t>
            </a:r>
            <a:r>
              <a:rPr lang="th-TH" sz="2400" dirty="0"/>
              <a:t>ปรับปรุงเสถียรภาพการ</a:t>
            </a:r>
            <a:r>
              <a:rPr lang="th-TH" sz="2400" dirty="0" err="1"/>
              <a:t>เทรน</a:t>
            </a:r>
            <a:r>
              <a:rPr lang="th-TH" sz="2400" dirty="0"/>
              <a:t>โมเดล </a:t>
            </a:r>
            <a:r>
              <a:rPr lang="en-US" sz="2400" dirty="0"/>
              <a:t>GAN</a:t>
            </a:r>
          </a:p>
          <a:p>
            <a:pPr lvl="1">
              <a:spcBef>
                <a:spcPts val="0"/>
              </a:spcBef>
            </a:pPr>
            <a:r>
              <a:rPr lang="th-TH" sz="2400" dirty="0"/>
              <a:t>การเทียบความคล้ายของภาพและเสียง</a:t>
            </a:r>
          </a:p>
          <a:p>
            <a:pPr lvl="1">
              <a:spcBef>
                <a:spcPts val="0"/>
              </a:spcBef>
            </a:pPr>
            <a:r>
              <a:rPr lang="th-TH" sz="2400" dirty="0"/>
              <a:t>ใช้วัดระยะห่างระหว่างการแจกแจงในข้อมูลที่มิติสูง</a:t>
            </a:r>
          </a:p>
          <a:p>
            <a:pPr lvl="1">
              <a:spcBef>
                <a:spcPts val="0"/>
              </a:spcBef>
            </a:pPr>
            <a:r>
              <a:rPr lang="th-TH" sz="2400" dirty="0"/>
              <a:t>ใช้ในปัญหา </a:t>
            </a:r>
            <a:r>
              <a:rPr lang="en-US" sz="2400" dirty="0"/>
              <a:t>domain adaptation</a:t>
            </a:r>
          </a:p>
        </p:txBody>
      </p:sp>
    </p:spTree>
    <p:extLst>
      <p:ext uri="{BB962C8B-B14F-4D97-AF65-F5344CB8AC3E}">
        <p14:creationId xmlns:p14="http://schemas.microsoft.com/office/powerpoint/2010/main" val="38195999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7A49C1-05C0-466A-8FBF-3F81F2AA3D72}"/>
              </a:ext>
            </a:extLst>
          </p:cNvPr>
          <p:cNvSpPr/>
          <p:nvPr/>
        </p:nvSpPr>
        <p:spPr>
          <a:xfrm>
            <a:off x="1849893" y="4063547"/>
            <a:ext cx="2092570" cy="1817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C9372E0-4B8A-4226-B70A-914744C49DDE}"/>
              </a:ext>
            </a:extLst>
          </p:cNvPr>
          <p:cNvCxnSpPr>
            <a:cxnSpLocks/>
          </p:cNvCxnSpPr>
          <p:nvPr/>
        </p:nvCxnSpPr>
        <p:spPr>
          <a:xfrm>
            <a:off x="1773693" y="5142071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4A6E38D-9CED-4CA4-BB65-2CCF48862204}"/>
              </a:ext>
            </a:extLst>
          </p:cNvPr>
          <p:cNvCxnSpPr>
            <a:cxnSpLocks/>
          </p:cNvCxnSpPr>
          <p:nvPr/>
        </p:nvCxnSpPr>
        <p:spPr>
          <a:xfrm>
            <a:off x="1773693" y="5517209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B7EA7C-6CA4-4C69-A584-3FA196B94C11}"/>
              </a:ext>
            </a:extLst>
          </p:cNvPr>
          <p:cNvCxnSpPr>
            <a:cxnSpLocks/>
          </p:cNvCxnSpPr>
          <p:nvPr/>
        </p:nvCxnSpPr>
        <p:spPr>
          <a:xfrm>
            <a:off x="1773693" y="4755209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F6A072-5C74-4AA6-97FB-4103351E707F}"/>
              </a:ext>
            </a:extLst>
          </p:cNvPr>
          <p:cNvCxnSpPr>
            <a:cxnSpLocks/>
          </p:cNvCxnSpPr>
          <p:nvPr/>
        </p:nvCxnSpPr>
        <p:spPr>
          <a:xfrm>
            <a:off x="1773693" y="4403518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D0D2A03-4837-4C11-8AF1-E8CBDA74C15F}"/>
              </a:ext>
            </a:extLst>
          </p:cNvPr>
          <p:cNvCxnSpPr>
            <a:cxnSpLocks/>
          </p:cNvCxnSpPr>
          <p:nvPr/>
        </p:nvCxnSpPr>
        <p:spPr>
          <a:xfrm flipV="1">
            <a:off x="2260201" y="4063547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2711BA-F89C-441C-920E-F83271EC7B9D}"/>
              </a:ext>
            </a:extLst>
          </p:cNvPr>
          <p:cNvCxnSpPr>
            <a:cxnSpLocks/>
          </p:cNvCxnSpPr>
          <p:nvPr/>
        </p:nvCxnSpPr>
        <p:spPr>
          <a:xfrm flipV="1">
            <a:off x="2682232" y="4063547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AC9B821-E3FA-4C60-83A7-9BF6C63F7BE2}"/>
              </a:ext>
            </a:extLst>
          </p:cNvPr>
          <p:cNvCxnSpPr>
            <a:cxnSpLocks/>
          </p:cNvCxnSpPr>
          <p:nvPr/>
        </p:nvCxnSpPr>
        <p:spPr>
          <a:xfrm flipV="1">
            <a:off x="3104263" y="4063547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C39F037-D368-4C78-A16B-7FF35C043D4A}"/>
              </a:ext>
            </a:extLst>
          </p:cNvPr>
          <p:cNvCxnSpPr>
            <a:cxnSpLocks/>
          </p:cNvCxnSpPr>
          <p:nvPr/>
        </p:nvCxnSpPr>
        <p:spPr>
          <a:xfrm flipV="1">
            <a:off x="3555600" y="4063547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D6A1A77-6417-4343-B26A-F40CC3277918}"/>
              </a:ext>
            </a:extLst>
          </p:cNvPr>
          <p:cNvSpPr txBox="1"/>
          <p:nvPr/>
        </p:nvSpPr>
        <p:spPr>
          <a:xfrm>
            <a:off x="1694564" y="5918693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A6B0A1-F6BE-4813-8D07-241398C51C75}"/>
              </a:ext>
            </a:extLst>
          </p:cNvPr>
          <p:cNvSpPr txBox="1"/>
          <p:nvPr/>
        </p:nvSpPr>
        <p:spPr>
          <a:xfrm>
            <a:off x="2090216" y="5909878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56046A-5728-48AB-A60E-6A2644049A19}"/>
              </a:ext>
            </a:extLst>
          </p:cNvPr>
          <p:cNvSpPr txBox="1"/>
          <p:nvPr/>
        </p:nvSpPr>
        <p:spPr>
          <a:xfrm>
            <a:off x="2512246" y="5918693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C907AB-F62D-42D1-984E-274694488F80}"/>
              </a:ext>
            </a:extLst>
          </p:cNvPr>
          <p:cNvSpPr txBox="1"/>
          <p:nvPr/>
        </p:nvSpPr>
        <p:spPr>
          <a:xfrm>
            <a:off x="2934276" y="5927508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6D365C-91A4-4E4F-A83A-153446B4199D}"/>
              </a:ext>
            </a:extLst>
          </p:cNvPr>
          <p:cNvSpPr txBox="1"/>
          <p:nvPr/>
        </p:nvSpPr>
        <p:spPr>
          <a:xfrm>
            <a:off x="3356306" y="5936323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585503-01FD-4382-99A6-804941E40DA1}"/>
              </a:ext>
            </a:extLst>
          </p:cNvPr>
          <p:cNvSpPr txBox="1"/>
          <p:nvPr/>
        </p:nvSpPr>
        <p:spPr>
          <a:xfrm>
            <a:off x="1445446" y="5345661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274FDE-70BE-4C4F-AF8D-141AFAE9D539}"/>
              </a:ext>
            </a:extLst>
          </p:cNvPr>
          <p:cNvSpPr txBox="1"/>
          <p:nvPr/>
        </p:nvSpPr>
        <p:spPr>
          <a:xfrm>
            <a:off x="1442515" y="4958799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D91000-8829-4190-990E-5720FBB9D061}"/>
              </a:ext>
            </a:extLst>
          </p:cNvPr>
          <p:cNvSpPr txBox="1"/>
          <p:nvPr/>
        </p:nvSpPr>
        <p:spPr>
          <a:xfrm>
            <a:off x="1448374" y="4563179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4EC6D2-BA0E-48E6-A7E0-02F745CCD696}"/>
              </a:ext>
            </a:extLst>
          </p:cNvPr>
          <p:cNvSpPr txBox="1"/>
          <p:nvPr/>
        </p:nvSpPr>
        <p:spPr>
          <a:xfrm>
            <a:off x="1433724" y="4226054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017B9B2-A26D-4181-A3D8-C78EFF74BA09}"/>
              </a:ext>
            </a:extLst>
          </p:cNvPr>
          <p:cNvSpPr/>
          <p:nvPr/>
        </p:nvSpPr>
        <p:spPr>
          <a:xfrm>
            <a:off x="1849893" y="1495882"/>
            <a:ext cx="2092570" cy="1817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2A5727A-E8E8-4C3E-B468-6B21C411A8E0}"/>
              </a:ext>
            </a:extLst>
          </p:cNvPr>
          <p:cNvCxnSpPr>
            <a:cxnSpLocks/>
          </p:cNvCxnSpPr>
          <p:nvPr/>
        </p:nvCxnSpPr>
        <p:spPr>
          <a:xfrm>
            <a:off x="1773693" y="2574406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B4D0904-EDC1-45CA-95A5-3ABF89A04CC2}"/>
              </a:ext>
            </a:extLst>
          </p:cNvPr>
          <p:cNvCxnSpPr>
            <a:cxnSpLocks/>
          </p:cNvCxnSpPr>
          <p:nvPr/>
        </p:nvCxnSpPr>
        <p:spPr>
          <a:xfrm>
            <a:off x="1773693" y="2949544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140ADBC-3B73-48AD-9A0B-E9A2741CFA4E}"/>
              </a:ext>
            </a:extLst>
          </p:cNvPr>
          <p:cNvCxnSpPr>
            <a:cxnSpLocks/>
          </p:cNvCxnSpPr>
          <p:nvPr/>
        </p:nvCxnSpPr>
        <p:spPr>
          <a:xfrm>
            <a:off x="1773693" y="2187544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740AB45-CB2A-40FC-9C6D-B0DC517B65AE}"/>
              </a:ext>
            </a:extLst>
          </p:cNvPr>
          <p:cNvCxnSpPr>
            <a:cxnSpLocks/>
          </p:cNvCxnSpPr>
          <p:nvPr/>
        </p:nvCxnSpPr>
        <p:spPr>
          <a:xfrm>
            <a:off x="1773693" y="1835853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BC78F3F-9A68-425B-947B-863556C7ADCD}"/>
              </a:ext>
            </a:extLst>
          </p:cNvPr>
          <p:cNvCxnSpPr>
            <a:cxnSpLocks/>
          </p:cNvCxnSpPr>
          <p:nvPr/>
        </p:nvCxnSpPr>
        <p:spPr>
          <a:xfrm flipV="1">
            <a:off x="2260201" y="1495882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6F49D57-326B-4D83-A8D2-9CD2AF2574DB}"/>
              </a:ext>
            </a:extLst>
          </p:cNvPr>
          <p:cNvCxnSpPr>
            <a:cxnSpLocks/>
          </p:cNvCxnSpPr>
          <p:nvPr/>
        </p:nvCxnSpPr>
        <p:spPr>
          <a:xfrm flipV="1">
            <a:off x="2682232" y="1495882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50832F5-4C34-4B95-9E45-E439E75E69A0}"/>
              </a:ext>
            </a:extLst>
          </p:cNvPr>
          <p:cNvCxnSpPr>
            <a:cxnSpLocks/>
          </p:cNvCxnSpPr>
          <p:nvPr/>
        </p:nvCxnSpPr>
        <p:spPr>
          <a:xfrm flipV="1">
            <a:off x="3104263" y="1495882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4F460DD-EC6E-4BF7-8043-F8FE077A166D}"/>
              </a:ext>
            </a:extLst>
          </p:cNvPr>
          <p:cNvCxnSpPr>
            <a:cxnSpLocks/>
          </p:cNvCxnSpPr>
          <p:nvPr/>
        </p:nvCxnSpPr>
        <p:spPr>
          <a:xfrm flipV="1">
            <a:off x="3555600" y="1495882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8C132ED3-3FB0-4130-A489-396BC866518C}"/>
              </a:ext>
            </a:extLst>
          </p:cNvPr>
          <p:cNvSpPr txBox="1"/>
          <p:nvPr/>
        </p:nvSpPr>
        <p:spPr>
          <a:xfrm>
            <a:off x="1694564" y="3351028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407CC37-CDC9-46FD-8E54-2AC193567104}"/>
              </a:ext>
            </a:extLst>
          </p:cNvPr>
          <p:cNvSpPr txBox="1"/>
          <p:nvPr/>
        </p:nvSpPr>
        <p:spPr>
          <a:xfrm>
            <a:off x="2090216" y="3342213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2640D23-CB68-4675-8C91-B41C393AAD76}"/>
              </a:ext>
            </a:extLst>
          </p:cNvPr>
          <p:cNvSpPr txBox="1"/>
          <p:nvPr/>
        </p:nvSpPr>
        <p:spPr>
          <a:xfrm>
            <a:off x="2512246" y="3351028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348C1A9-C95E-401C-BEAD-34281EF5940A}"/>
              </a:ext>
            </a:extLst>
          </p:cNvPr>
          <p:cNvSpPr txBox="1"/>
          <p:nvPr/>
        </p:nvSpPr>
        <p:spPr>
          <a:xfrm>
            <a:off x="2934276" y="3359843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B06E524-6E5F-4FCB-A408-CD85C48B6D70}"/>
              </a:ext>
            </a:extLst>
          </p:cNvPr>
          <p:cNvSpPr txBox="1"/>
          <p:nvPr/>
        </p:nvSpPr>
        <p:spPr>
          <a:xfrm>
            <a:off x="3356306" y="3368658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FE00F78-B389-44C6-8AA7-15CF5B4BEC46}"/>
              </a:ext>
            </a:extLst>
          </p:cNvPr>
          <p:cNvSpPr txBox="1"/>
          <p:nvPr/>
        </p:nvSpPr>
        <p:spPr>
          <a:xfrm>
            <a:off x="1445446" y="2777996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7446C36-FCF9-4404-95D1-675D34DC515F}"/>
              </a:ext>
            </a:extLst>
          </p:cNvPr>
          <p:cNvSpPr txBox="1"/>
          <p:nvPr/>
        </p:nvSpPr>
        <p:spPr>
          <a:xfrm>
            <a:off x="1442515" y="2391134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4B82B15-0855-4301-B25A-BE15C2DC8D58}"/>
              </a:ext>
            </a:extLst>
          </p:cNvPr>
          <p:cNvSpPr txBox="1"/>
          <p:nvPr/>
        </p:nvSpPr>
        <p:spPr>
          <a:xfrm>
            <a:off x="1448374" y="1995514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35331B1-49BE-4953-88B7-1F9AA1F607DE}"/>
              </a:ext>
            </a:extLst>
          </p:cNvPr>
          <p:cNvSpPr txBox="1"/>
          <p:nvPr/>
        </p:nvSpPr>
        <p:spPr>
          <a:xfrm>
            <a:off x="1433724" y="1658389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FA8CCE7E-B062-40B8-8720-E68780BC8059}"/>
              </a:ext>
            </a:extLst>
          </p:cNvPr>
          <p:cNvSpPr/>
          <p:nvPr/>
        </p:nvSpPr>
        <p:spPr>
          <a:xfrm>
            <a:off x="2090216" y="5511292"/>
            <a:ext cx="322377" cy="369332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A1D1A303-465F-491C-BBDA-AA1DB64A1E60}"/>
              </a:ext>
            </a:extLst>
          </p:cNvPr>
          <p:cNvSpPr/>
          <p:nvPr/>
        </p:nvSpPr>
        <p:spPr>
          <a:xfrm>
            <a:off x="2518120" y="5130346"/>
            <a:ext cx="334095" cy="750277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D939D522-D7A9-4564-88AC-CB321F92CE37}"/>
              </a:ext>
            </a:extLst>
          </p:cNvPr>
          <p:cNvSpPr/>
          <p:nvPr/>
        </p:nvSpPr>
        <p:spPr>
          <a:xfrm>
            <a:off x="2937210" y="4403518"/>
            <a:ext cx="337031" cy="1477106"/>
          </a:xfrm>
          <a:prstGeom prst="rect">
            <a:avLst/>
          </a:prstGeom>
          <a:solidFill>
            <a:schemeClr val="accent1"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DFF9863B-EA6C-4AAC-8C30-D8F7C07EEDC3}"/>
              </a:ext>
            </a:extLst>
          </p:cNvPr>
          <p:cNvSpPr/>
          <p:nvPr/>
        </p:nvSpPr>
        <p:spPr>
          <a:xfrm>
            <a:off x="3360707" y="4743490"/>
            <a:ext cx="364867" cy="113713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ADC105D5-1221-4B6E-8FFB-CF6F7A968DD6}"/>
              </a:ext>
            </a:extLst>
          </p:cNvPr>
          <p:cNvSpPr/>
          <p:nvPr/>
        </p:nvSpPr>
        <p:spPr>
          <a:xfrm>
            <a:off x="2096083" y="2179041"/>
            <a:ext cx="366331" cy="1128424"/>
          </a:xfrm>
          <a:prstGeom prst="rect">
            <a:avLst/>
          </a:prstGeom>
          <a:solidFill>
            <a:srgbClr val="FF00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87E4F5F2-5487-4F6B-A0D1-F89502368756}"/>
              </a:ext>
            </a:extLst>
          </p:cNvPr>
          <p:cNvSpPr/>
          <p:nvPr/>
        </p:nvSpPr>
        <p:spPr>
          <a:xfrm>
            <a:off x="2541576" y="2586126"/>
            <a:ext cx="342868" cy="718018"/>
          </a:xfrm>
          <a:prstGeom prst="rect">
            <a:avLst/>
          </a:prstGeom>
          <a:solidFill>
            <a:srgbClr val="FF00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95BA7818-0B93-433B-B9EB-A4431648E03B}"/>
              </a:ext>
            </a:extLst>
          </p:cNvPr>
          <p:cNvSpPr/>
          <p:nvPr/>
        </p:nvSpPr>
        <p:spPr>
          <a:xfrm>
            <a:off x="2978285" y="2957708"/>
            <a:ext cx="339967" cy="355252"/>
          </a:xfrm>
          <a:prstGeom prst="rect">
            <a:avLst/>
          </a:prstGeom>
          <a:solidFill>
            <a:srgbClr val="FF00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7995C189-BF39-48FA-8C24-7F0356BB4BBD}"/>
              </a:ext>
            </a:extLst>
          </p:cNvPr>
          <p:cNvSpPr/>
          <p:nvPr/>
        </p:nvSpPr>
        <p:spPr>
          <a:xfrm>
            <a:off x="3420800" y="1847573"/>
            <a:ext cx="354593" cy="1477105"/>
          </a:xfrm>
          <a:prstGeom prst="rect">
            <a:avLst/>
          </a:prstGeom>
          <a:solidFill>
            <a:srgbClr val="FF00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77A5A96-9EAE-49CB-B4DA-6546F7F155A8}"/>
              </a:ext>
            </a:extLst>
          </p:cNvPr>
          <p:cNvSpPr/>
          <p:nvPr/>
        </p:nvSpPr>
        <p:spPr>
          <a:xfrm>
            <a:off x="4446553" y="4063547"/>
            <a:ext cx="2092570" cy="1817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6C067503-9A96-400B-B538-EDEC38CF40B2}"/>
              </a:ext>
            </a:extLst>
          </p:cNvPr>
          <p:cNvCxnSpPr>
            <a:cxnSpLocks/>
          </p:cNvCxnSpPr>
          <p:nvPr/>
        </p:nvCxnSpPr>
        <p:spPr>
          <a:xfrm>
            <a:off x="4370353" y="5142071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2B4E654F-D711-4E09-B662-D5735DC61FF2}"/>
              </a:ext>
            </a:extLst>
          </p:cNvPr>
          <p:cNvCxnSpPr>
            <a:cxnSpLocks/>
          </p:cNvCxnSpPr>
          <p:nvPr/>
        </p:nvCxnSpPr>
        <p:spPr>
          <a:xfrm>
            <a:off x="4370353" y="5517209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0EC43581-FCCB-4A33-8117-F7F708CA6D0A}"/>
              </a:ext>
            </a:extLst>
          </p:cNvPr>
          <p:cNvCxnSpPr>
            <a:cxnSpLocks/>
          </p:cNvCxnSpPr>
          <p:nvPr/>
        </p:nvCxnSpPr>
        <p:spPr>
          <a:xfrm>
            <a:off x="4370353" y="4755209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847E670B-FF19-4E94-A6CB-1ECA28B395A7}"/>
              </a:ext>
            </a:extLst>
          </p:cNvPr>
          <p:cNvCxnSpPr>
            <a:cxnSpLocks/>
          </p:cNvCxnSpPr>
          <p:nvPr/>
        </p:nvCxnSpPr>
        <p:spPr>
          <a:xfrm>
            <a:off x="4370353" y="4403518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310247AC-CDB9-47BF-8737-57D86B968DCC}"/>
              </a:ext>
            </a:extLst>
          </p:cNvPr>
          <p:cNvCxnSpPr>
            <a:cxnSpLocks/>
          </p:cNvCxnSpPr>
          <p:nvPr/>
        </p:nvCxnSpPr>
        <p:spPr>
          <a:xfrm flipV="1">
            <a:off x="4856861" y="4063547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A0416CB2-1151-42DD-BF2C-3A8D80F00B10}"/>
              </a:ext>
            </a:extLst>
          </p:cNvPr>
          <p:cNvCxnSpPr>
            <a:cxnSpLocks/>
          </p:cNvCxnSpPr>
          <p:nvPr/>
        </p:nvCxnSpPr>
        <p:spPr>
          <a:xfrm flipV="1">
            <a:off x="5278892" y="4063547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78DAAE31-89FC-40FD-B536-23B8CAD745BE}"/>
              </a:ext>
            </a:extLst>
          </p:cNvPr>
          <p:cNvCxnSpPr>
            <a:cxnSpLocks/>
          </p:cNvCxnSpPr>
          <p:nvPr/>
        </p:nvCxnSpPr>
        <p:spPr>
          <a:xfrm flipV="1">
            <a:off x="5700923" y="4063547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D5B3C91A-9283-46EE-B71D-A2FD67F138B4}"/>
              </a:ext>
            </a:extLst>
          </p:cNvPr>
          <p:cNvCxnSpPr>
            <a:cxnSpLocks/>
          </p:cNvCxnSpPr>
          <p:nvPr/>
        </p:nvCxnSpPr>
        <p:spPr>
          <a:xfrm flipV="1">
            <a:off x="6152260" y="4063547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D83C4803-851C-46AF-8DA5-BEEB8FF4F4A9}"/>
              </a:ext>
            </a:extLst>
          </p:cNvPr>
          <p:cNvSpPr txBox="1"/>
          <p:nvPr/>
        </p:nvSpPr>
        <p:spPr>
          <a:xfrm>
            <a:off x="4291224" y="5918693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CB4DACBD-260D-4923-89B1-78880FA52F7E}"/>
              </a:ext>
            </a:extLst>
          </p:cNvPr>
          <p:cNvSpPr txBox="1"/>
          <p:nvPr/>
        </p:nvSpPr>
        <p:spPr>
          <a:xfrm>
            <a:off x="4686876" y="5909878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231ED7F0-EAD3-449A-B561-9230E0A5A5B9}"/>
              </a:ext>
            </a:extLst>
          </p:cNvPr>
          <p:cNvSpPr txBox="1"/>
          <p:nvPr/>
        </p:nvSpPr>
        <p:spPr>
          <a:xfrm>
            <a:off x="5108906" y="5918693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FFCCBA26-476B-497B-88A0-DED4DE10D687}"/>
              </a:ext>
            </a:extLst>
          </p:cNvPr>
          <p:cNvSpPr txBox="1"/>
          <p:nvPr/>
        </p:nvSpPr>
        <p:spPr>
          <a:xfrm>
            <a:off x="5530936" y="5927508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0A1AE50-C715-4CBE-B6CF-C2DE5649371F}"/>
              </a:ext>
            </a:extLst>
          </p:cNvPr>
          <p:cNvSpPr txBox="1"/>
          <p:nvPr/>
        </p:nvSpPr>
        <p:spPr>
          <a:xfrm>
            <a:off x="5952966" y="5936323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B85CC1F-CD55-4EB9-B4C0-EB82C964D054}"/>
              </a:ext>
            </a:extLst>
          </p:cNvPr>
          <p:cNvSpPr txBox="1"/>
          <p:nvPr/>
        </p:nvSpPr>
        <p:spPr>
          <a:xfrm>
            <a:off x="4042106" y="5345661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B41A70F7-719D-4256-A12E-D1B042C22F87}"/>
              </a:ext>
            </a:extLst>
          </p:cNvPr>
          <p:cNvSpPr txBox="1"/>
          <p:nvPr/>
        </p:nvSpPr>
        <p:spPr>
          <a:xfrm>
            <a:off x="4039175" y="4958799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DD80A4FE-A64B-4246-B23C-5AD7CACAB62C}"/>
              </a:ext>
            </a:extLst>
          </p:cNvPr>
          <p:cNvSpPr txBox="1"/>
          <p:nvPr/>
        </p:nvSpPr>
        <p:spPr>
          <a:xfrm>
            <a:off x="4045034" y="4563179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2B15901-811C-4F8D-9FD4-068966C6CDAD}"/>
              </a:ext>
            </a:extLst>
          </p:cNvPr>
          <p:cNvSpPr txBox="1"/>
          <p:nvPr/>
        </p:nvSpPr>
        <p:spPr>
          <a:xfrm>
            <a:off x="4030384" y="4226054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6B0FA5A-21F8-4AFE-8AB2-136E417B8668}"/>
              </a:ext>
            </a:extLst>
          </p:cNvPr>
          <p:cNvSpPr/>
          <p:nvPr/>
        </p:nvSpPr>
        <p:spPr>
          <a:xfrm>
            <a:off x="4686876" y="5511292"/>
            <a:ext cx="322377" cy="369332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158414A2-0FBC-4477-8109-8A09AE81AB29}"/>
              </a:ext>
            </a:extLst>
          </p:cNvPr>
          <p:cNvSpPr/>
          <p:nvPr/>
        </p:nvSpPr>
        <p:spPr>
          <a:xfrm>
            <a:off x="5114780" y="5130346"/>
            <a:ext cx="334095" cy="750277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F4837E48-D595-4E28-87FF-C0D3E39A0454}"/>
              </a:ext>
            </a:extLst>
          </p:cNvPr>
          <p:cNvSpPr/>
          <p:nvPr/>
        </p:nvSpPr>
        <p:spPr>
          <a:xfrm>
            <a:off x="5533870" y="4403518"/>
            <a:ext cx="337031" cy="1477106"/>
          </a:xfrm>
          <a:prstGeom prst="rect">
            <a:avLst/>
          </a:prstGeom>
          <a:solidFill>
            <a:schemeClr val="accent1"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9EB7B91E-15A5-4B62-A6D9-D75AAE622297}"/>
              </a:ext>
            </a:extLst>
          </p:cNvPr>
          <p:cNvSpPr/>
          <p:nvPr/>
        </p:nvSpPr>
        <p:spPr>
          <a:xfrm>
            <a:off x="5957367" y="4743490"/>
            <a:ext cx="364867" cy="113713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93AFFFC9-3B11-4E2F-94A7-C5B8FA1A754D}"/>
              </a:ext>
            </a:extLst>
          </p:cNvPr>
          <p:cNvSpPr/>
          <p:nvPr/>
        </p:nvSpPr>
        <p:spPr>
          <a:xfrm>
            <a:off x="7028564" y="4050260"/>
            <a:ext cx="2092570" cy="1817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9DB25F6A-8BBE-44D3-9CA3-8B65F96EE222}"/>
              </a:ext>
            </a:extLst>
          </p:cNvPr>
          <p:cNvCxnSpPr>
            <a:cxnSpLocks/>
          </p:cNvCxnSpPr>
          <p:nvPr/>
        </p:nvCxnSpPr>
        <p:spPr>
          <a:xfrm>
            <a:off x="6952364" y="5128784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EEB691C2-6AC6-4B71-91B2-AF050908627C}"/>
              </a:ext>
            </a:extLst>
          </p:cNvPr>
          <p:cNvCxnSpPr>
            <a:cxnSpLocks/>
          </p:cNvCxnSpPr>
          <p:nvPr/>
        </p:nvCxnSpPr>
        <p:spPr>
          <a:xfrm>
            <a:off x="6952364" y="5503922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8581D676-A11D-47A2-87AC-D98C92843CD3}"/>
              </a:ext>
            </a:extLst>
          </p:cNvPr>
          <p:cNvCxnSpPr>
            <a:cxnSpLocks/>
          </p:cNvCxnSpPr>
          <p:nvPr/>
        </p:nvCxnSpPr>
        <p:spPr>
          <a:xfrm>
            <a:off x="6952364" y="4741922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DA6CCA31-C563-4049-AFB6-4BD915C2C5E8}"/>
              </a:ext>
            </a:extLst>
          </p:cNvPr>
          <p:cNvCxnSpPr>
            <a:cxnSpLocks/>
          </p:cNvCxnSpPr>
          <p:nvPr/>
        </p:nvCxnSpPr>
        <p:spPr>
          <a:xfrm>
            <a:off x="6952364" y="4390231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411681EF-0225-4240-BAEF-B6E32C57BE71}"/>
              </a:ext>
            </a:extLst>
          </p:cNvPr>
          <p:cNvCxnSpPr>
            <a:cxnSpLocks/>
          </p:cNvCxnSpPr>
          <p:nvPr/>
        </p:nvCxnSpPr>
        <p:spPr>
          <a:xfrm flipV="1">
            <a:off x="7438872" y="4050260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8E22F03C-FE2A-4F39-8FEF-A0FDEAB568F3}"/>
              </a:ext>
            </a:extLst>
          </p:cNvPr>
          <p:cNvCxnSpPr>
            <a:cxnSpLocks/>
          </p:cNvCxnSpPr>
          <p:nvPr/>
        </p:nvCxnSpPr>
        <p:spPr>
          <a:xfrm flipV="1">
            <a:off x="7860903" y="4050260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2CECA2D9-A41D-40C1-A9AD-04B8EDB86AE5}"/>
              </a:ext>
            </a:extLst>
          </p:cNvPr>
          <p:cNvCxnSpPr>
            <a:cxnSpLocks/>
          </p:cNvCxnSpPr>
          <p:nvPr/>
        </p:nvCxnSpPr>
        <p:spPr>
          <a:xfrm flipV="1">
            <a:off x="8282934" y="4050260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D348D40B-7460-40EB-A4F0-17A0D78D334F}"/>
              </a:ext>
            </a:extLst>
          </p:cNvPr>
          <p:cNvCxnSpPr>
            <a:cxnSpLocks/>
          </p:cNvCxnSpPr>
          <p:nvPr/>
        </p:nvCxnSpPr>
        <p:spPr>
          <a:xfrm flipV="1">
            <a:off x="8734271" y="4050260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4CEB46B3-436E-455D-AD2F-D153A6232A07}"/>
              </a:ext>
            </a:extLst>
          </p:cNvPr>
          <p:cNvSpPr txBox="1"/>
          <p:nvPr/>
        </p:nvSpPr>
        <p:spPr>
          <a:xfrm>
            <a:off x="6873235" y="5905406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065A51D1-E0A0-4E0B-86FA-B229E158D8F8}"/>
              </a:ext>
            </a:extLst>
          </p:cNvPr>
          <p:cNvSpPr txBox="1"/>
          <p:nvPr/>
        </p:nvSpPr>
        <p:spPr>
          <a:xfrm>
            <a:off x="7268887" y="5896591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249FDCF-C43A-4628-B16D-1095387C0092}"/>
              </a:ext>
            </a:extLst>
          </p:cNvPr>
          <p:cNvSpPr txBox="1"/>
          <p:nvPr/>
        </p:nvSpPr>
        <p:spPr>
          <a:xfrm>
            <a:off x="7690917" y="5905406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03152443-0F7B-4186-A54F-224A5382D556}"/>
              </a:ext>
            </a:extLst>
          </p:cNvPr>
          <p:cNvSpPr txBox="1"/>
          <p:nvPr/>
        </p:nvSpPr>
        <p:spPr>
          <a:xfrm>
            <a:off x="8112947" y="5914221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4D2BD11C-574E-46D7-A36E-00188FD7C427}"/>
              </a:ext>
            </a:extLst>
          </p:cNvPr>
          <p:cNvSpPr txBox="1"/>
          <p:nvPr/>
        </p:nvSpPr>
        <p:spPr>
          <a:xfrm>
            <a:off x="8534977" y="5923036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3AB0BC14-F333-4E72-8527-A44090CD05F3}"/>
              </a:ext>
            </a:extLst>
          </p:cNvPr>
          <p:cNvSpPr txBox="1"/>
          <p:nvPr/>
        </p:nvSpPr>
        <p:spPr>
          <a:xfrm>
            <a:off x="6624117" y="5332374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B7440960-22B9-4EC6-9705-4F455C9CF88B}"/>
              </a:ext>
            </a:extLst>
          </p:cNvPr>
          <p:cNvSpPr txBox="1"/>
          <p:nvPr/>
        </p:nvSpPr>
        <p:spPr>
          <a:xfrm>
            <a:off x="6621186" y="4945512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5ABF5128-8244-4456-9313-934170AC90DD}"/>
              </a:ext>
            </a:extLst>
          </p:cNvPr>
          <p:cNvSpPr txBox="1"/>
          <p:nvPr/>
        </p:nvSpPr>
        <p:spPr>
          <a:xfrm>
            <a:off x="6627045" y="4549892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7D5EB97E-CFD8-498F-8C2F-1D23AA44201B}"/>
              </a:ext>
            </a:extLst>
          </p:cNvPr>
          <p:cNvSpPr txBox="1"/>
          <p:nvPr/>
        </p:nvSpPr>
        <p:spPr>
          <a:xfrm>
            <a:off x="6612395" y="4212767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91FCBB2F-36AC-4345-B214-E32538C9BF0A}"/>
              </a:ext>
            </a:extLst>
          </p:cNvPr>
          <p:cNvSpPr/>
          <p:nvPr/>
        </p:nvSpPr>
        <p:spPr>
          <a:xfrm>
            <a:off x="7268887" y="5498005"/>
            <a:ext cx="322377" cy="369332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F763205E-3B9E-4430-8373-56AC5ADDA541}"/>
              </a:ext>
            </a:extLst>
          </p:cNvPr>
          <p:cNvSpPr/>
          <p:nvPr/>
        </p:nvSpPr>
        <p:spPr>
          <a:xfrm>
            <a:off x="7696791" y="5117059"/>
            <a:ext cx="334095" cy="750277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7511CBAB-976D-4635-8BE1-0B10C83F2F6F}"/>
              </a:ext>
            </a:extLst>
          </p:cNvPr>
          <p:cNvSpPr/>
          <p:nvPr/>
        </p:nvSpPr>
        <p:spPr>
          <a:xfrm>
            <a:off x="8115881" y="4390231"/>
            <a:ext cx="337031" cy="1477106"/>
          </a:xfrm>
          <a:prstGeom prst="rect">
            <a:avLst/>
          </a:prstGeom>
          <a:solidFill>
            <a:schemeClr val="accent1"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B68A84F-2C49-469E-A0DE-78F43A65E591}"/>
              </a:ext>
            </a:extLst>
          </p:cNvPr>
          <p:cNvSpPr/>
          <p:nvPr/>
        </p:nvSpPr>
        <p:spPr>
          <a:xfrm>
            <a:off x="8539378" y="4730203"/>
            <a:ext cx="364867" cy="113713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A4658A7A-FBB6-4D35-964C-737584D165F1}"/>
              </a:ext>
            </a:extLst>
          </p:cNvPr>
          <p:cNvSpPr/>
          <p:nvPr/>
        </p:nvSpPr>
        <p:spPr>
          <a:xfrm>
            <a:off x="9610575" y="4036973"/>
            <a:ext cx="2092570" cy="1817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8962C775-273C-4227-B114-B7D2232F4D65}"/>
              </a:ext>
            </a:extLst>
          </p:cNvPr>
          <p:cNvCxnSpPr>
            <a:cxnSpLocks/>
          </p:cNvCxnSpPr>
          <p:nvPr/>
        </p:nvCxnSpPr>
        <p:spPr>
          <a:xfrm>
            <a:off x="9534375" y="5115497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71AA989A-1BF7-480F-800C-9B4BD8B90C41}"/>
              </a:ext>
            </a:extLst>
          </p:cNvPr>
          <p:cNvCxnSpPr>
            <a:cxnSpLocks/>
          </p:cNvCxnSpPr>
          <p:nvPr/>
        </p:nvCxnSpPr>
        <p:spPr>
          <a:xfrm>
            <a:off x="9534375" y="5490635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1E53F648-E97E-4113-8219-418569E4B0FB}"/>
              </a:ext>
            </a:extLst>
          </p:cNvPr>
          <p:cNvCxnSpPr>
            <a:cxnSpLocks/>
          </p:cNvCxnSpPr>
          <p:nvPr/>
        </p:nvCxnSpPr>
        <p:spPr>
          <a:xfrm>
            <a:off x="9534375" y="4728635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C902883B-C68D-48AA-B746-2D8019EFD052}"/>
              </a:ext>
            </a:extLst>
          </p:cNvPr>
          <p:cNvCxnSpPr>
            <a:cxnSpLocks/>
          </p:cNvCxnSpPr>
          <p:nvPr/>
        </p:nvCxnSpPr>
        <p:spPr>
          <a:xfrm>
            <a:off x="9534375" y="4376944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C3762A04-ADB6-4B16-B4D0-AAFEFF5EDEED}"/>
              </a:ext>
            </a:extLst>
          </p:cNvPr>
          <p:cNvCxnSpPr>
            <a:cxnSpLocks/>
          </p:cNvCxnSpPr>
          <p:nvPr/>
        </p:nvCxnSpPr>
        <p:spPr>
          <a:xfrm flipV="1">
            <a:off x="10020883" y="4036973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25E3CE75-1FA1-4D7B-885F-B0768AC8171B}"/>
              </a:ext>
            </a:extLst>
          </p:cNvPr>
          <p:cNvCxnSpPr>
            <a:cxnSpLocks/>
          </p:cNvCxnSpPr>
          <p:nvPr/>
        </p:nvCxnSpPr>
        <p:spPr>
          <a:xfrm flipV="1">
            <a:off x="10442914" y="4036973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A399143A-E7A5-4C93-8827-B737C86DF532}"/>
              </a:ext>
            </a:extLst>
          </p:cNvPr>
          <p:cNvCxnSpPr>
            <a:cxnSpLocks/>
          </p:cNvCxnSpPr>
          <p:nvPr/>
        </p:nvCxnSpPr>
        <p:spPr>
          <a:xfrm flipV="1">
            <a:off x="10864945" y="4036973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EE76282-BF5F-425A-AB7F-75716ED9B31A}"/>
              </a:ext>
            </a:extLst>
          </p:cNvPr>
          <p:cNvCxnSpPr>
            <a:cxnSpLocks/>
          </p:cNvCxnSpPr>
          <p:nvPr/>
        </p:nvCxnSpPr>
        <p:spPr>
          <a:xfrm flipV="1">
            <a:off x="11316282" y="4036973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16FDED04-22F1-4ADF-A5CB-48F1614BC8DB}"/>
              </a:ext>
            </a:extLst>
          </p:cNvPr>
          <p:cNvSpPr txBox="1"/>
          <p:nvPr/>
        </p:nvSpPr>
        <p:spPr>
          <a:xfrm>
            <a:off x="9455246" y="5892119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DE67213-9420-460D-8ED7-A5C7A0A68986}"/>
              </a:ext>
            </a:extLst>
          </p:cNvPr>
          <p:cNvSpPr txBox="1"/>
          <p:nvPr/>
        </p:nvSpPr>
        <p:spPr>
          <a:xfrm>
            <a:off x="9850898" y="5883304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4A180F23-0297-4C87-B6B8-6F532F5029B5}"/>
              </a:ext>
            </a:extLst>
          </p:cNvPr>
          <p:cNvSpPr txBox="1"/>
          <p:nvPr/>
        </p:nvSpPr>
        <p:spPr>
          <a:xfrm>
            <a:off x="10272928" y="5892119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CF9B6A3-3FBD-4224-B1D9-46A197824F00}"/>
              </a:ext>
            </a:extLst>
          </p:cNvPr>
          <p:cNvSpPr txBox="1"/>
          <p:nvPr/>
        </p:nvSpPr>
        <p:spPr>
          <a:xfrm>
            <a:off x="10694958" y="5900934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66A45871-A535-405E-A956-E58CE9223A95}"/>
              </a:ext>
            </a:extLst>
          </p:cNvPr>
          <p:cNvSpPr txBox="1"/>
          <p:nvPr/>
        </p:nvSpPr>
        <p:spPr>
          <a:xfrm>
            <a:off x="11116988" y="5909749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2F56CABD-5C17-4939-A6F9-68F4400F372D}"/>
              </a:ext>
            </a:extLst>
          </p:cNvPr>
          <p:cNvSpPr txBox="1"/>
          <p:nvPr/>
        </p:nvSpPr>
        <p:spPr>
          <a:xfrm>
            <a:off x="9206128" y="5319087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E3ADB25B-EB6F-4CE5-9B0C-F5705525D125}"/>
              </a:ext>
            </a:extLst>
          </p:cNvPr>
          <p:cNvSpPr txBox="1"/>
          <p:nvPr/>
        </p:nvSpPr>
        <p:spPr>
          <a:xfrm>
            <a:off x="9203197" y="4932225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C580A9CE-C866-4C1F-A3C5-0036EC69FF4E}"/>
              </a:ext>
            </a:extLst>
          </p:cNvPr>
          <p:cNvSpPr txBox="1"/>
          <p:nvPr/>
        </p:nvSpPr>
        <p:spPr>
          <a:xfrm>
            <a:off x="9209056" y="4536605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A5CDA55D-73D9-405B-B2CC-B66F0B59DE5B}"/>
              </a:ext>
            </a:extLst>
          </p:cNvPr>
          <p:cNvSpPr txBox="1"/>
          <p:nvPr/>
        </p:nvSpPr>
        <p:spPr>
          <a:xfrm>
            <a:off x="9194406" y="4199480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8FDAB4BA-7234-4E60-851B-78D8EE1ADA2A}"/>
              </a:ext>
            </a:extLst>
          </p:cNvPr>
          <p:cNvSpPr/>
          <p:nvPr/>
        </p:nvSpPr>
        <p:spPr>
          <a:xfrm>
            <a:off x="9850898" y="5484718"/>
            <a:ext cx="322377" cy="369332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31A6F1D1-25E9-4140-BA81-3F2C3E0E7734}"/>
              </a:ext>
            </a:extLst>
          </p:cNvPr>
          <p:cNvSpPr/>
          <p:nvPr/>
        </p:nvSpPr>
        <p:spPr>
          <a:xfrm>
            <a:off x="10278802" y="5103772"/>
            <a:ext cx="334095" cy="750277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273A14F8-127A-4A29-8BB1-D97DF8255010}"/>
              </a:ext>
            </a:extLst>
          </p:cNvPr>
          <p:cNvSpPr/>
          <p:nvPr/>
        </p:nvSpPr>
        <p:spPr>
          <a:xfrm>
            <a:off x="10697892" y="4376944"/>
            <a:ext cx="337031" cy="1477106"/>
          </a:xfrm>
          <a:prstGeom prst="rect">
            <a:avLst/>
          </a:prstGeom>
          <a:solidFill>
            <a:schemeClr val="accent1"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11FCA740-64E2-4E60-88E5-BCA7A9188FEF}"/>
              </a:ext>
            </a:extLst>
          </p:cNvPr>
          <p:cNvSpPr/>
          <p:nvPr/>
        </p:nvSpPr>
        <p:spPr>
          <a:xfrm>
            <a:off x="11121389" y="4716916"/>
            <a:ext cx="364867" cy="113713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F53F9521-6125-46EF-8912-5E386600D60B}"/>
              </a:ext>
            </a:extLst>
          </p:cNvPr>
          <p:cNvSpPr/>
          <p:nvPr/>
        </p:nvSpPr>
        <p:spPr>
          <a:xfrm>
            <a:off x="4502233" y="1509863"/>
            <a:ext cx="2092570" cy="1817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FB939FC4-8B00-48D4-91A9-EC50C42F2AC0}"/>
              </a:ext>
            </a:extLst>
          </p:cNvPr>
          <p:cNvCxnSpPr>
            <a:cxnSpLocks/>
          </p:cNvCxnSpPr>
          <p:nvPr/>
        </p:nvCxnSpPr>
        <p:spPr>
          <a:xfrm>
            <a:off x="4426033" y="2588387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F725288A-2486-475A-8CE4-95A76D1BD20E}"/>
              </a:ext>
            </a:extLst>
          </p:cNvPr>
          <p:cNvCxnSpPr>
            <a:cxnSpLocks/>
          </p:cNvCxnSpPr>
          <p:nvPr/>
        </p:nvCxnSpPr>
        <p:spPr>
          <a:xfrm>
            <a:off x="4426033" y="2963525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F186543A-5A75-44AE-9A97-AAB6A8019A0E}"/>
              </a:ext>
            </a:extLst>
          </p:cNvPr>
          <p:cNvCxnSpPr>
            <a:cxnSpLocks/>
          </p:cNvCxnSpPr>
          <p:nvPr/>
        </p:nvCxnSpPr>
        <p:spPr>
          <a:xfrm>
            <a:off x="4426033" y="2201525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EC6A85D9-051D-4661-A191-F9DCE0B5985C}"/>
              </a:ext>
            </a:extLst>
          </p:cNvPr>
          <p:cNvCxnSpPr>
            <a:cxnSpLocks/>
          </p:cNvCxnSpPr>
          <p:nvPr/>
        </p:nvCxnSpPr>
        <p:spPr>
          <a:xfrm>
            <a:off x="4426033" y="1849834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8130D884-96ED-495C-AD86-73A5DDCCD08F}"/>
              </a:ext>
            </a:extLst>
          </p:cNvPr>
          <p:cNvCxnSpPr>
            <a:cxnSpLocks/>
          </p:cNvCxnSpPr>
          <p:nvPr/>
        </p:nvCxnSpPr>
        <p:spPr>
          <a:xfrm flipV="1">
            <a:off x="4912541" y="1509863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56828868-B66D-4964-8D18-6DCBB0C3F98B}"/>
              </a:ext>
            </a:extLst>
          </p:cNvPr>
          <p:cNvCxnSpPr>
            <a:cxnSpLocks/>
          </p:cNvCxnSpPr>
          <p:nvPr/>
        </p:nvCxnSpPr>
        <p:spPr>
          <a:xfrm flipV="1">
            <a:off x="5334572" y="1509863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2F3F3D82-89A9-4BF5-A9C5-A6B1502FD8A4}"/>
              </a:ext>
            </a:extLst>
          </p:cNvPr>
          <p:cNvCxnSpPr>
            <a:cxnSpLocks/>
          </p:cNvCxnSpPr>
          <p:nvPr/>
        </p:nvCxnSpPr>
        <p:spPr>
          <a:xfrm flipV="1">
            <a:off x="5756603" y="1509863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398B37BA-50D1-4FB1-8FAF-5A168FA1F71D}"/>
              </a:ext>
            </a:extLst>
          </p:cNvPr>
          <p:cNvCxnSpPr>
            <a:cxnSpLocks/>
          </p:cNvCxnSpPr>
          <p:nvPr/>
        </p:nvCxnSpPr>
        <p:spPr>
          <a:xfrm flipV="1">
            <a:off x="6207940" y="1509863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TextBox 235">
            <a:extLst>
              <a:ext uri="{FF2B5EF4-FFF2-40B4-BE49-F238E27FC236}">
                <a16:creationId xmlns:a16="http://schemas.microsoft.com/office/drawing/2014/main" id="{58A8BC45-28D9-4744-9EC8-7DA29840E414}"/>
              </a:ext>
            </a:extLst>
          </p:cNvPr>
          <p:cNvSpPr txBox="1"/>
          <p:nvPr/>
        </p:nvSpPr>
        <p:spPr>
          <a:xfrm>
            <a:off x="4346904" y="3365009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A862766B-1639-48B5-8EFD-E022C84A7F5B}"/>
              </a:ext>
            </a:extLst>
          </p:cNvPr>
          <p:cNvSpPr txBox="1"/>
          <p:nvPr/>
        </p:nvSpPr>
        <p:spPr>
          <a:xfrm>
            <a:off x="4742556" y="3356194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61CFB8AF-F2FE-4F19-8AB6-5FBCDF94425C}"/>
              </a:ext>
            </a:extLst>
          </p:cNvPr>
          <p:cNvSpPr txBox="1"/>
          <p:nvPr/>
        </p:nvSpPr>
        <p:spPr>
          <a:xfrm>
            <a:off x="5164586" y="3365009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7598973E-4E28-459B-B8B5-4ED7A004C6F3}"/>
              </a:ext>
            </a:extLst>
          </p:cNvPr>
          <p:cNvSpPr txBox="1"/>
          <p:nvPr/>
        </p:nvSpPr>
        <p:spPr>
          <a:xfrm>
            <a:off x="5586616" y="3373824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7A349452-D1A4-41D5-8966-E7AE8E0D4124}"/>
              </a:ext>
            </a:extLst>
          </p:cNvPr>
          <p:cNvSpPr txBox="1"/>
          <p:nvPr/>
        </p:nvSpPr>
        <p:spPr>
          <a:xfrm>
            <a:off x="6008646" y="3382639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36EFCED6-59B8-4DE1-8FA7-85311B08C5FD}"/>
              </a:ext>
            </a:extLst>
          </p:cNvPr>
          <p:cNvSpPr txBox="1"/>
          <p:nvPr/>
        </p:nvSpPr>
        <p:spPr>
          <a:xfrm>
            <a:off x="4097786" y="2791977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E50AD3A7-885E-45FE-99E0-E964BE6AFFE0}"/>
              </a:ext>
            </a:extLst>
          </p:cNvPr>
          <p:cNvSpPr txBox="1"/>
          <p:nvPr/>
        </p:nvSpPr>
        <p:spPr>
          <a:xfrm>
            <a:off x="4094855" y="2405115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22AA1978-F8D1-4072-AA5A-D0B19C4F4B54}"/>
              </a:ext>
            </a:extLst>
          </p:cNvPr>
          <p:cNvSpPr txBox="1"/>
          <p:nvPr/>
        </p:nvSpPr>
        <p:spPr>
          <a:xfrm>
            <a:off x="4100714" y="2009495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919CB503-6E3B-4539-8FB9-87BD77F5F3A7}"/>
              </a:ext>
            </a:extLst>
          </p:cNvPr>
          <p:cNvSpPr txBox="1"/>
          <p:nvPr/>
        </p:nvSpPr>
        <p:spPr>
          <a:xfrm>
            <a:off x="4086064" y="1672370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C3FF53BC-8629-444D-9D4A-77A892FD1767}"/>
              </a:ext>
            </a:extLst>
          </p:cNvPr>
          <p:cNvSpPr/>
          <p:nvPr/>
        </p:nvSpPr>
        <p:spPr>
          <a:xfrm>
            <a:off x="4748423" y="2193022"/>
            <a:ext cx="366331" cy="1128424"/>
          </a:xfrm>
          <a:prstGeom prst="rect">
            <a:avLst/>
          </a:prstGeom>
          <a:solidFill>
            <a:srgbClr val="FF00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6B43316E-33DD-421C-9187-9CFD815787FA}"/>
              </a:ext>
            </a:extLst>
          </p:cNvPr>
          <p:cNvSpPr/>
          <p:nvPr/>
        </p:nvSpPr>
        <p:spPr>
          <a:xfrm>
            <a:off x="5193916" y="2600107"/>
            <a:ext cx="342868" cy="718018"/>
          </a:xfrm>
          <a:prstGeom prst="rect">
            <a:avLst/>
          </a:prstGeom>
          <a:solidFill>
            <a:srgbClr val="FF00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FBBB34D7-0B38-49CD-AF87-47620C26CC8E}"/>
              </a:ext>
            </a:extLst>
          </p:cNvPr>
          <p:cNvSpPr/>
          <p:nvPr/>
        </p:nvSpPr>
        <p:spPr>
          <a:xfrm>
            <a:off x="5645251" y="2949544"/>
            <a:ext cx="339967" cy="377397"/>
          </a:xfrm>
          <a:prstGeom prst="rect">
            <a:avLst/>
          </a:prstGeom>
          <a:solidFill>
            <a:srgbClr val="FF00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E065B23-A992-4E86-A9B3-AA29DC6C5596}"/>
              </a:ext>
            </a:extLst>
          </p:cNvPr>
          <p:cNvSpPr/>
          <p:nvPr/>
        </p:nvSpPr>
        <p:spPr>
          <a:xfrm>
            <a:off x="6073140" y="2224972"/>
            <a:ext cx="354593" cy="1113687"/>
          </a:xfrm>
          <a:prstGeom prst="rect">
            <a:avLst/>
          </a:prstGeom>
          <a:solidFill>
            <a:srgbClr val="FF00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BB0FB371-AF74-4BF9-A7E2-8EF02F919A86}"/>
              </a:ext>
            </a:extLst>
          </p:cNvPr>
          <p:cNvSpPr/>
          <p:nvPr/>
        </p:nvSpPr>
        <p:spPr>
          <a:xfrm>
            <a:off x="5651109" y="2594243"/>
            <a:ext cx="339967" cy="363465"/>
          </a:xfrm>
          <a:prstGeom prst="rect">
            <a:avLst/>
          </a:prstGeom>
          <a:solidFill>
            <a:schemeClr val="accent6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23B5D3F4-E044-49E7-98A8-DA41CB03A109}"/>
              </a:ext>
            </a:extLst>
          </p:cNvPr>
          <p:cNvSpPr/>
          <p:nvPr/>
        </p:nvSpPr>
        <p:spPr>
          <a:xfrm>
            <a:off x="7010980" y="1533951"/>
            <a:ext cx="2092570" cy="1817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3AE7107C-9D66-4CED-B8D4-D3F06B062738}"/>
              </a:ext>
            </a:extLst>
          </p:cNvPr>
          <p:cNvCxnSpPr>
            <a:cxnSpLocks/>
          </p:cNvCxnSpPr>
          <p:nvPr/>
        </p:nvCxnSpPr>
        <p:spPr>
          <a:xfrm>
            <a:off x="6934780" y="2612475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C0287F76-BDDD-43CF-8998-F58E797C2DE1}"/>
              </a:ext>
            </a:extLst>
          </p:cNvPr>
          <p:cNvCxnSpPr>
            <a:cxnSpLocks/>
          </p:cNvCxnSpPr>
          <p:nvPr/>
        </p:nvCxnSpPr>
        <p:spPr>
          <a:xfrm>
            <a:off x="6934780" y="2987613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9014FF05-63C7-44F6-BC9B-9457748E6BBF}"/>
              </a:ext>
            </a:extLst>
          </p:cNvPr>
          <p:cNvCxnSpPr>
            <a:cxnSpLocks/>
          </p:cNvCxnSpPr>
          <p:nvPr/>
        </p:nvCxnSpPr>
        <p:spPr>
          <a:xfrm>
            <a:off x="6934780" y="2225613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7DBD9780-F2E3-40CA-A9DA-E77F0F5E231A}"/>
              </a:ext>
            </a:extLst>
          </p:cNvPr>
          <p:cNvCxnSpPr>
            <a:cxnSpLocks/>
          </p:cNvCxnSpPr>
          <p:nvPr/>
        </p:nvCxnSpPr>
        <p:spPr>
          <a:xfrm>
            <a:off x="6934780" y="1873922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A646282C-B720-40A8-B533-ECC11FBA121F}"/>
              </a:ext>
            </a:extLst>
          </p:cNvPr>
          <p:cNvCxnSpPr>
            <a:cxnSpLocks/>
          </p:cNvCxnSpPr>
          <p:nvPr/>
        </p:nvCxnSpPr>
        <p:spPr>
          <a:xfrm flipV="1">
            <a:off x="7421288" y="1533951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B5819DC3-077F-43BB-9763-C8BF57DDB395}"/>
              </a:ext>
            </a:extLst>
          </p:cNvPr>
          <p:cNvCxnSpPr>
            <a:cxnSpLocks/>
          </p:cNvCxnSpPr>
          <p:nvPr/>
        </p:nvCxnSpPr>
        <p:spPr>
          <a:xfrm flipV="1">
            <a:off x="7843319" y="1533951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5F0DA12C-CCD2-409A-8D9A-043F42A932C5}"/>
              </a:ext>
            </a:extLst>
          </p:cNvPr>
          <p:cNvCxnSpPr>
            <a:cxnSpLocks/>
          </p:cNvCxnSpPr>
          <p:nvPr/>
        </p:nvCxnSpPr>
        <p:spPr>
          <a:xfrm flipV="1">
            <a:off x="8265350" y="1533951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E9B8335E-96DD-4BDC-8117-929A7139D895}"/>
              </a:ext>
            </a:extLst>
          </p:cNvPr>
          <p:cNvCxnSpPr>
            <a:cxnSpLocks/>
          </p:cNvCxnSpPr>
          <p:nvPr/>
        </p:nvCxnSpPr>
        <p:spPr>
          <a:xfrm flipV="1">
            <a:off x="8716687" y="1533951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D9F6FC8B-FF6C-4712-92B6-819D75F0C528}"/>
              </a:ext>
            </a:extLst>
          </p:cNvPr>
          <p:cNvSpPr txBox="1"/>
          <p:nvPr/>
        </p:nvSpPr>
        <p:spPr>
          <a:xfrm>
            <a:off x="6606533" y="2816065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4C1F6C68-16BD-40C5-ABA8-EE8FD0660121}"/>
              </a:ext>
            </a:extLst>
          </p:cNvPr>
          <p:cNvSpPr txBox="1"/>
          <p:nvPr/>
        </p:nvSpPr>
        <p:spPr>
          <a:xfrm>
            <a:off x="6603602" y="2429203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86F08C58-99F7-4979-9428-36633BBB0A57}"/>
              </a:ext>
            </a:extLst>
          </p:cNvPr>
          <p:cNvSpPr txBox="1"/>
          <p:nvPr/>
        </p:nvSpPr>
        <p:spPr>
          <a:xfrm>
            <a:off x="6609461" y="2033583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DD4F1DA1-EED2-486A-AABC-EC6CF82D9C1F}"/>
              </a:ext>
            </a:extLst>
          </p:cNvPr>
          <p:cNvSpPr txBox="1"/>
          <p:nvPr/>
        </p:nvSpPr>
        <p:spPr>
          <a:xfrm>
            <a:off x="6594811" y="1696458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2172FEC3-AD1E-4ECB-8AA1-4BB104AE4CE2}"/>
              </a:ext>
            </a:extLst>
          </p:cNvPr>
          <p:cNvSpPr/>
          <p:nvPr/>
        </p:nvSpPr>
        <p:spPr>
          <a:xfrm>
            <a:off x="7702663" y="2624195"/>
            <a:ext cx="342868" cy="718018"/>
          </a:xfrm>
          <a:prstGeom prst="rect">
            <a:avLst/>
          </a:prstGeom>
          <a:solidFill>
            <a:srgbClr val="FF00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559A56C8-7326-440F-B86F-98A1B0FDCAA8}"/>
              </a:ext>
            </a:extLst>
          </p:cNvPr>
          <p:cNvSpPr/>
          <p:nvPr/>
        </p:nvSpPr>
        <p:spPr>
          <a:xfrm>
            <a:off x="8153998" y="2973632"/>
            <a:ext cx="339967" cy="377397"/>
          </a:xfrm>
          <a:prstGeom prst="rect">
            <a:avLst/>
          </a:prstGeom>
          <a:solidFill>
            <a:srgbClr val="FF00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C864B9E1-4E4F-4632-A166-523BCB17871C}"/>
              </a:ext>
            </a:extLst>
          </p:cNvPr>
          <p:cNvSpPr/>
          <p:nvPr/>
        </p:nvSpPr>
        <p:spPr>
          <a:xfrm>
            <a:off x="8581887" y="2249060"/>
            <a:ext cx="354593" cy="1113687"/>
          </a:xfrm>
          <a:prstGeom prst="rect">
            <a:avLst/>
          </a:prstGeom>
          <a:solidFill>
            <a:srgbClr val="FF00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BA64C07B-01F6-4801-85E5-533A41526249}"/>
              </a:ext>
            </a:extLst>
          </p:cNvPr>
          <p:cNvSpPr/>
          <p:nvPr/>
        </p:nvSpPr>
        <p:spPr>
          <a:xfrm>
            <a:off x="8151052" y="2191813"/>
            <a:ext cx="339967" cy="770811"/>
          </a:xfrm>
          <a:prstGeom prst="rect">
            <a:avLst/>
          </a:prstGeom>
          <a:solidFill>
            <a:schemeClr val="accent6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EE9265B6-F59B-4F5F-BA75-B00EE534A727}"/>
              </a:ext>
            </a:extLst>
          </p:cNvPr>
          <p:cNvSpPr txBox="1"/>
          <p:nvPr/>
        </p:nvSpPr>
        <p:spPr>
          <a:xfrm>
            <a:off x="6876175" y="3383188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B14F8FC4-63DB-40E6-82FD-2FA1916D9BB6}"/>
              </a:ext>
            </a:extLst>
          </p:cNvPr>
          <p:cNvSpPr txBox="1"/>
          <p:nvPr/>
        </p:nvSpPr>
        <p:spPr>
          <a:xfrm>
            <a:off x="7271827" y="3374373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1AEBC31B-A7C1-4E58-98C5-CC6F88796A8B}"/>
              </a:ext>
            </a:extLst>
          </p:cNvPr>
          <p:cNvSpPr txBox="1"/>
          <p:nvPr/>
        </p:nvSpPr>
        <p:spPr>
          <a:xfrm>
            <a:off x="7693857" y="3383188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8095F8D6-180C-4320-B0EA-3A237F04A6C6}"/>
              </a:ext>
            </a:extLst>
          </p:cNvPr>
          <p:cNvSpPr txBox="1"/>
          <p:nvPr/>
        </p:nvSpPr>
        <p:spPr>
          <a:xfrm>
            <a:off x="8115887" y="3392003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6E05E487-7DD8-4C59-8C0E-8EDDA533C02B}"/>
              </a:ext>
            </a:extLst>
          </p:cNvPr>
          <p:cNvSpPr txBox="1"/>
          <p:nvPr/>
        </p:nvSpPr>
        <p:spPr>
          <a:xfrm>
            <a:off x="8537917" y="3400818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2DAD7878-BD70-4218-BB1D-5756878789B5}"/>
              </a:ext>
            </a:extLst>
          </p:cNvPr>
          <p:cNvSpPr/>
          <p:nvPr/>
        </p:nvSpPr>
        <p:spPr>
          <a:xfrm>
            <a:off x="9610590" y="1540660"/>
            <a:ext cx="2092570" cy="1817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57BC7A8B-F46E-48DE-AA21-216EE4228FF1}"/>
              </a:ext>
            </a:extLst>
          </p:cNvPr>
          <p:cNvCxnSpPr>
            <a:cxnSpLocks/>
          </p:cNvCxnSpPr>
          <p:nvPr/>
        </p:nvCxnSpPr>
        <p:spPr>
          <a:xfrm>
            <a:off x="9534390" y="2619184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FE8970EB-7004-4247-B37E-3447E9C2353D}"/>
              </a:ext>
            </a:extLst>
          </p:cNvPr>
          <p:cNvCxnSpPr>
            <a:cxnSpLocks/>
          </p:cNvCxnSpPr>
          <p:nvPr/>
        </p:nvCxnSpPr>
        <p:spPr>
          <a:xfrm>
            <a:off x="9534390" y="2994322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9EBB62DB-2F8D-4856-806F-0129F3966634}"/>
              </a:ext>
            </a:extLst>
          </p:cNvPr>
          <p:cNvCxnSpPr>
            <a:cxnSpLocks/>
          </p:cNvCxnSpPr>
          <p:nvPr/>
        </p:nvCxnSpPr>
        <p:spPr>
          <a:xfrm>
            <a:off x="9534390" y="2232322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B594A593-EAD4-4066-9869-F6F442A020BD}"/>
              </a:ext>
            </a:extLst>
          </p:cNvPr>
          <p:cNvCxnSpPr>
            <a:cxnSpLocks/>
          </p:cNvCxnSpPr>
          <p:nvPr/>
        </p:nvCxnSpPr>
        <p:spPr>
          <a:xfrm>
            <a:off x="9534390" y="1880631"/>
            <a:ext cx="216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225C06E6-9FC0-460A-B7ED-BF1B2070DE22}"/>
              </a:ext>
            </a:extLst>
          </p:cNvPr>
          <p:cNvCxnSpPr>
            <a:cxnSpLocks/>
          </p:cNvCxnSpPr>
          <p:nvPr/>
        </p:nvCxnSpPr>
        <p:spPr>
          <a:xfrm flipV="1">
            <a:off x="10020898" y="1540660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F4B1E5BB-44CB-484F-B120-1F8FD002F631}"/>
              </a:ext>
            </a:extLst>
          </p:cNvPr>
          <p:cNvCxnSpPr>
            <a:cxnSpLocks/>
          </p:cNvCxnSpPr>
          <p:nvPr/>
        </p:nvCxnSpPr>
        <p:spPr>
          <a:xfrm flipV="1">
            <a:off x="10442929" y="1540660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E71CED5E-C69E-496C-B45A-FACA91CCA500}"/>
              </a:ext>
            </a:extLst>
          </p:cNvPr>
          <p:cNvCxnSpPr>
            <a:cxnSpLocks/>
          </p:cNvCxnSpPr>
          <p:nvPr/>
        </p:nvCxnSpPr>
        <p:spPr>
          <a:xfrm flipV="1">
            <a:off x="10864960" y="1540660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8438B0AA-54C4-4354-9EF9-34E30C760593}"/>
              </a:ext>
            </a:extLst>
          </p:cNvPr>
          <p:cNvCxnSpPr>
            <a:cxnSpLocks/>
          </p:cNvCxnSpPr>
          <p:nvPr/>
        </p:nvCxnSpPr>
        <p:spPr>
          <a:xfrm flipV="1">
            <a:off x="11316297" y="1540660"/>
            <a:ext cx="0" cy="1875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TextBox 282">
            <a:extLst>
              <a:ext uri="{FF2B5EF4-FFF2-40B4-BE49-F238E27FC236}">
                <a16:creationId xmlns:a16="http://schemas.microsoft.com/office/drawing/2014/main" id="{42AB3950-A0FE-4A03-BFC7-AD162CB94BC7}"/>
              </a:ext>
            </a:extLst>
          </p:cNvPr>
          <p:cNvSpPr txBox="1"/>
          <p:nvPr/>
        </p:nvSpPr>
        <p:spPr>
          <a:xfrm>
            <a:off x="9206143" y="2822774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2D7EC428-2803-4DF2-951B-6C6FD2105BFB}"/>
              </a:ext>
            </a:extLst>
          </p:cNvPr>
          <p:cNvSpPr txBox="1"/>
          <p:nvPr/>
        </p:nvSpPr>
        <p:spPr>
          <a:xfrm>
            <a:off x="9203212" y="2435912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3AE99604-4BCD-404C-9C1C-9DBA9CAF7D62}"/>
              </a:ext>
            </a:extLst>
          </p:cNvPr>
          <p:cNvSpPr txBox="1"/>
          <p:nvPr/>
        </p:nvSpPr>
        <p:spPr>
          <a:xfrm>
            <a:off x="9209071" y="2040292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3E6BFCB9-F218-4480-A8A8-A91D81EE20CC}"/>
              </a:ext>
            </a:extLst>
          </p:cNvPr>
          <p:cNvSpPr txBox="1"/>
          <p:nvPr/>
        </p:nvSpPr>
        <p:spPr>
          <a:xfrm>
            <a:off x="9194421" y="1703167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B58851A3-D8F9-4102-B6D3-468A9D70F33A}"/>
              </a:ext>
            </a:extLst>
          </p:cNvPr>
          <p:cNvSpPr/>
          <p:nvPr/>
        </p:nvSpPr>
        <p:spPr>
          <a:xfrm>
            <a:off x="9856780" y="2956253"/>
            <a:ext cx="366331" cy="395990"/>
          </a:xfrm>
          <a:prstGeom prst="rect">
            <a:avLst/>
          </a:prstGeom>
          <a:solidFill>
            <a:srgbClr val="FF00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D63A6F21-76D8-4C9A-970C-CD31BD854440}"/>
              </a:ext>
            </a:extLst>
          </p:cNvPr>
          <p:cNvSpPr/>
          <p:nvPr/>
        </p:nvSpPr>
        <p:spPr>
          <a:xfrm>
            <a:off x="10302273" y="2630904"/>
            <a:ext cx="342868" cy="718018"/>
          </a:xfrm>
          <a:prstGeom prst="rect">
            <a:avLst/>
          </a:prstGeom>
          <a:solidFill>
            <a:srgbClr val="FF00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4B292F1E-DD64-4985-9D2A-BCA1DFBED033}"/>
              </a:ext>
            </a:extLst>
          </p:cNvPr>
          <p:cNvSpPr/>
          <p:nvPr/>
        </p:nvSpPr>
        <p:spPr>
          <a:xfrm>
            <a:off x="10753608" y="2980341"/>
            <a:ext cx="339967" cy="377397"/>
          </a:xfrm>
          <a:prstGeom prst="rect">
            <a:avLst/>
          </a:prstGeom>
          <a:solidFill>
            <a:srgbClr val="FF00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FE2BDB10-DF9B-4030-9C9A-944ACA2AA9E7}"/>
              </a:ext>
            </a:extLst>
          </p:cNvPr>
          <p:cNvSpPr/>
          <p:nvPr/>
        </p:nvSpPr>
        <p:spPr>
          <a:xfrm>
            <a:off x="11181497" y="2255769"/>
            <a:ext cx="354593" cy="1113687"/>
          </a:xfrm>
          <a:prstGeom prst="rect">
            <a:avLst/>
          </a:prstGeom>
          <a:solidFill>
            <a:srgbClr val="FF00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42B399F7-F3B9-414C-A064-CCA6F7638F3E}"/>
              </a:ext>
            </a:extLst>
          </p:cNvPr>
          <p:cNvSpPr/>
          <p:nvPr/>
        </p:nvSpPr>
        <p:spPr>
          <a:xfrm>
            <a:off x="10759466" y="2625040"/>
            <a:ext cx="339967" cy="363465"/>
          </a:xfrm>
          <a:prstGeom prst="rect">
            <a:avLst/>
          </a:prstGeom>
          <a:solidFill>
            <a:schemeClr val="accent6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987C90F3-BF8F-455D-BC5E-EECD41E0A3A6}"/>
              </a:ext>
            </a:extLst>
          </p:cNvPr>
          <p:cNvSpPr/>
          <p:nvPr/>
        </p:nvSpPr>
        <p:spPr>
          <a:xfrm>
            <a:off x="10759451" y="1867883"/>
            <a:ext cx="339967" cy="748451"/>
          </a:xfrm>
          <a:prstGeom prst="rect">
            <a:avLst/>
          </a:prstGeom>
          <a:solidFill>
            <a:schemeClr val="accent6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ECCF803F-4E95-44E9-B6EB-8B5342E58E5F}"/>
              </a:ext>
            </a:extLst>
          </p:cNvPr>
          <p:cNvSpPr txBox="1"/>
          <p:nvPr/>
        </p:nvSpPr>
        <p:spPr>
          <a:xfrm>
            <a:off x="9475785" y="3389897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89EC5379-8FA8-44D6-85CA-6DC22CE9047C}"/>
              </a:ext>
            </a:extLst>
          </p:cNvPr>
          <p:cNvSpPr txBox="1"/>
          <p:nvPr/>
        </p:nvSpPr>
        <p:spPr>
          <a:xfrm>
            <a:off x="9871437" y="3381082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3C8E3838-9B44-49F6-9355-16E6A8D0077B}"/>
              </a:ext>
            </a:extLst>
          </p:cNvPr>
          <p:cNvSpPr txBox="1"/>
          <p:nvPr/>
        </p:nvSpPr>
        <p:spPr>
          <a:xfrm>
            <a:off x="10293467" y="3389897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D3ABA293-EB0B-4A05-8525-74A8AE820D5E}"/>
              </a:ext>
            </a:extLst>
          </p:cNvPr>
          <p:cNvSpPr txBox="1"/>
          <p:nvPr/>
        </p:nvSpPr>
        <p:spPr>
          <a:xfrm>
            <a:off x="10715497" y="3398712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C9202A2C-F997-4BEA-A3E0-B356C4BE374C}"/>
              </a:ext>
            </a:extLst>
          </p:cNvPr>
          <p:cNvSpPr txBox="1"/>
          <p:nvPr/>
        </p:nvSpPr>
        <p:spPr>
          <a:xfrm>
            <a:off x="11137527" y="3407527"/>
            <a:ext cx="33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290E14-EC97-4B6C-A4E0-9F0A3523428D}"/>
              </a:ext>
            </a:extLst>
          </p:cNvPr>
          <p:cNvSpPr txBox="1"/>
          <p:nvPr/>
        </p:nvSpPr>
        <p:spPr>
          <a:xfrm>
            <a:off x="522215" y="2102249"/>
            <a:ext cx="984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Q(x)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B52F1A68-0CE6-42B1-908C-E90822093AF1}"/>
              </a:ext>
            </a:extLst>
          </p:cNvPr>
          <p:cNvSpPr txBox="1"/>
          <p:nvPr/>
        </p:nvSpPr>
        <p:spPr>
          <a:xfrm>
            <a:off x="579531" y="4774745"/>
            <a:ext cx="9612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P(x)</a:t>
            </a: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AFEFBADB-1647-44D9-9870-29DD53EB2E77}"/>
              </a:ext>
            </a:extLst>
          </p:cNvPr>
          <p:cNvSpPr txBox="1"/>
          <p:nvPr/>
        </p:nvSpPr>
        <p:spPr>
          <a:xfrm>
            <a:off x="2138213" y="6305655"/>
            <a:ext cx="1515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0 loads</a:t>
            </a: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B49553E9-AECE-48F1-9E65-00AFEDBCD94C}"/>
              </a:ext>
            </a:extLst>
          </p:cNvPr>
          <p:cNvSpPr txBox="1"/>
          <p:nvPr/>
        </p:nvSpPr>
        <p:spPr>
          <a:xfrm>
            <a:off x="4572556" y="6304022"/>
            <a:ext cx="1515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 load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4247C12-C8E7-4658-A705-BAC191C32797}"/>
              </a:ext>
            </a:extLst>
          </p:cNvPr>
          <p:cNvSpPr txBox="1"/>
          <p:nvPr/>
        </p:nvSpPr>
        <p:spPr>
          <a:xfrm>
            <a:off x="7189705" y="6304022"/>
            <a:ext cx="1515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 loads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75FA5B1F-BA59-4F6E-9995-776B0BCDAC82}"/>
              </a:ext>
            </a:extLst>
          </p:cNvPr>
          <p:cNvSpPr txBox="1"/>
          <p:nvPr/>
        </p:nvSpPr>
        <p:spPr>
          <a:xfrm>
            <a:off x="9716079" y="6334780"/>
            <a:ext cx="1515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3 loads</a:t>
            </a:r>
          </a:p>
        </p:txBody>
      </p:sp>
      <p:sp>
        <p:nvSpPr>
          <p:cNvPr id="300" name="Title 1">
            <a:extLst>
              <a:ext uri="{FF2B5EF4-FFF2-40B4-BE49-F238E27FC236}">
                <a16:creationId xmlns:a16="http://schemas.microsoft.com/office/drawing/2014/main" id="{F34E2124-00EE-4CDD-A872-8259B5CAD0A1}"/>
              </a:ext>
            </a:extLst>
          </p:cNvPr>
          <p:cNvSpPr txBox="1">
            <a:spLocks/>
          </p:cNvSpPr>
          <p:nvPr/>
        </p:nvSpPr>
        <p:spPr>
          <a:xfrm>
            <a:off x="379514" y="182215"/>
            <a:ext cx="11524432" cy="124032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The Wasserstein distance metric</a:t>
            </a:r>
          </a:p>
          <a:p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How many earthmover loads are required to equalize the distributions?</a:t>
            </a: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B321AD43-111D-4DCE-A978-CE5DD2164ACD}"/>
              </a:ext>
            </a:extLst>
          </p:cNvPr>
          <p:cNvSpPr/>
          <p:nvPr/>
        </p:nvSpPr>
        <p:spPr>
          <a:xfrm>
            <a:off x="7239742" y="2632448"/>
            <a:ext cx="342868" cy="718018"/>
          </a:xfrm>
          <a:prstGeom prst="rect">
            <a:avLst/>
          </a:prstGeom>
          <a:solidFill>
            <a:srgbClr val="FF00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76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81" grpId="0" animBg="1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70" grpId="0"/>
      <p:bldP spid="171" grpId="0"/>
      <p:bldP spid="172" grpId="0"/>
      <p:bldP spid="173" grpId="0"/>
      <p:bldP spid="174" grpId="0"/>
      <p:bldP spid="175" grpId="0"/>
      <p:bldP spid="176" grpId="0"/>
      <p:bldP spid="177" grpId="0"/>
      <p:bldP spid="178" grpId="0"/>
      <p:bldP spid="179" grpId="0" animBg="1"/>
      <p:bldP spid="180" grpId="0" animBg="1"/>
      <p:bldP spid="181" grpId="0" animBg="1"/>
      <p:bldP spid="182" grpId="0" animBg="1"/>
      <p:bldP spid="183" grpId="0" animBg="1"/>
      <p:bldP spid="192" grpId="0"/>
      <p:bldP spid="193" grpId="0"/>
      <p:bldP spid="194" grpId="0"/>
      <p:bldP spid="195" grpId="0"/>
      <p:bldP spid="196" grpId="0"/>
      <p:bldP spid="197" grpId="0"/>
      <p:bldP spid="198" grpId="0"/>
      <p:bldP spid="199" grpId="0"/>
      <p:bldP spid="200" grpId="0"/>
      <p:bldP spid="201" grpId="0" animBg="1"/>
      <p:bldP spid="202" grpId="0" animBg="1"/>
      <p:bldP spid="203" grpId="0" animBg="1"/>
      <p:bldP spid="204" grpId="0" animBg="1"/>
      <p:bldP spid="205" grpId="0" animBg="1"/>
      <p:bldP spid="214" grpId="0"/>
      <p:bldP spid="215" grpId="0"/>
      <p:bldP spid="216" grpId="0"/>
      <p:bldP spid="217" grpId="0"/>
      <p:bldP spid="218" grpId="0"/>
      <p:bldP spid="219" grpId="0"/>
      <p:bldP spid="220" grpId="0"/>
      <p:bldP spid="221" grpId="0"/>
      <p:bldP spid="222" grpId="0"/>
      <p:bldP spid="223" grpId="0" animBg="1"/>
      <p:bldP spid="224" grpId="0" animBg="1"/>
      <p:bldP spid="225" grpId="0" animBg="1"/>
      <p:bldP spid="226" grpId="0" animBg="1"/>
      <p:bldP spid="227" grpId="0" animBg="1"/>
      <p:bldP spid="236" grpId="0"/>
      <p:bldP spid="237" grpId="0"/>
      <p:bldP spid="238" grpId="0"/>
      <p:bldP spid="239" grpId="0"/>
      <p:bldP spid="240" grpId="0"/>
      <p:bldP spid="241" grpId="0"/>
      <p:bldP spid="242" grpId="0"/>
      <p:bldP spid="243" grpId="0"/>
      <p:bldP spid="244" grpId="0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9" grpId="0"/>
      <p:bldP spid="260" grpId="0"/>
      <p:bldP spid="261" grpId="0"/>
      <p:bldP spid="262" grpId="0"/>
      <p:bldP spid="264" grpId="0" animBg="1"/>
      <p:bldP spid="265" grpId="0" animBg="1"/>
      <p:bldP spid="266" grpId="0" animBg="1"/>
      <p:bldP spid="268" grpId="0" animBg="1"/>
      <p:bldP spid="269" grpId="0"/>
      <p:bldP spid="270" grpId="0"/>
      <p:bldP spid="271" grpId="0"/>
      <p:bldP spid="272" grpId="0"/>
      <p:bldP spid="273" grpId="0"/>
      <p:bldP spid="274" grpId="0" animBg="1"/>
      <p:bldP spid="283" grpId="0"/>
      <p:bldP spid="284" grpId="0"/>
      <p:bldP spid="285" grpId="0"/>
      <p:bldP spid="286" grpId="0"/>
      <p:bldP spid="287" grpId="0" animBg="1"/>
      <p:bldP spid="288" grpId="0" animBg="1"/>
      <p:bldP spid="289" grpId="0" animBg="1"/>
      <p:bldP spid="290" grpId="0" animBg="1"/>
      <p:bldP spid="291" grpId="0" animBg="1"/>
      <p:bldP spid="292" grpId="0" animBg="1"/>
      <p:bldP spid="293" grpId="0"/>
      <p:bldP spid="294" grpId="0"/>
      <p:bldP spid="295" grpId="0"/>
      <p:bldP spid="296" grpId="0"/>
      <p:bldP spid="297" grpId="0"/>
      <p:bldP spid="3" grpId="0"/>
      <p:bldP spid="298" grpId="0"/>
      <p:bldP spid="299" grpId="0"/>
      <p:bldP spid="303" grpId="0"/>
      <p:bldP spid="304" grpId="0"/>
      <p:bldP spid="30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53A2-598A-4DD7-80C8-28094305E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33498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The Wasserstein distance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79349-62D4-418A-8328-7BCEB2B0A95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15715"/>
            <a:ext cx="5257611" cy="557001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+mn-lt"/>
                <a:cs typeface="Segoe UI" panose="020B0502040204020203" pitchFamily="34" charset="0"/>
              </a:rPr>
              <a:t>The loss of the Wasserstein GAN is linear and symmetric</a:t>
            </a:r>
          </a:p>
          <a:p>
            <a:r>
              <a:rPr lang="en-US" sz="2800" dirty="0">
                <a:latin typeface="+mn-lt"/>
                <a:cs typeface="Segoe UI" panose="020B0502040204020203" pitchFamily="34" charset="0"/>
              </a:rPr>
              <a:t>Image generation starts with random noise</a:t>
            </a:r>
          </a:p>
          <a:p>
            <a:r>
              <a:rPr lang="en-US" sz="2800" dirty="0">
                <a:latin typeface="+mn-lt"/>
                <a:cs typeface="Segoe UI" panose="020B0502040204020203" pitchFamily="34" charset="0"/>
              </a:rPr>
              <a:t>As generator loss is reduced, the images create improve</a:t>
            </a:r>
          </a:p>
          <a:p>
            <a:r>
              <a:rPr lang="en-US" sz="2800" dirty="0">
                <a:latin typeface="+mn-lt"/>
                <a:cs typeface="Segoe UI" panose="020B0502040204020203" pitchFamily="34" charset="0"/>
              </a:rPr>
              <a:t>Notice that learning continues as loss function continues to decrease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EDEA9D-A904-4135-BE22-0283097F4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669" y="895350"/>
            <a:ext cx="5997147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026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E89FD-BAE6-0918-BABB-E363F7EC0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953577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Advances in GAN Models</a:t>
            </a:r>
          </a:p>
        </p:txBody>
      </p:sp>
    </p:spTree>
    <p:extLst>
      <p:ext uri="{BB962C8B-B14F-4D97-AF65-F5344CB8AC3E}">
        <p14:creationId xmlns:p14="http://schemas.microsoft.com/office/powerpoint/2010/main" val="30368080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53A2-598A-4DD7-80C8-28094305E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33498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Approaches to improved GAN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79349-62D4-418A-8328-7BCEB2B0A95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15715"/>
            <a:ext cx="11525250" cy="557001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+mn-lt"/>
                <a:cs typeface="Segoe UI" panose="020B0502040204020203" pitchFamily="34" charset="0"/>
              </a:rPr>
              <a:t>A great deal of research has focused on improving the convergence and preventing mode collapse</a:t>
            </a:r>
          </a:p>
          <a:p>
            <a:r>
              <a:rPr lang="en-US" sz="2800" dirty="0">
                <a:latin typeface="+mn-lt"/>
                <a:cs typeface="Segoe UI" panose="020B0502040204020203" pitchFamily="34" charset="0"/>
              </a:rPr>
              <a:t> An very incomplete list of key advances: </a:t>
            </a:r>
          </a:p>
          <a:p>
            <a:pPr marL="0" indent="0">
              <a:buNone/>
            </a:pPr>
            <a:endParaRPr lang="en-US" sz="2800" dirty="0">
              <a:latin typeface="+mn-lt"/>
              <a:cs typeface="Segoe UI" panose="020B0502040204020203" pitchFamily="34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52F15C7-58D8-407E-9D19-CF7889AC532F}"/>
              </a:ext>
            </a:extLst>
          </p:cNvPr>
          <p:cNvGraphicFramePr>
            <a:graphicFrameLocks noGrp="1"/>
          </p:cNvGraphicFramePr>
          <p:nvPr/>
        </p:nvGraphicFramePr>
        <p:xfrm>
          <a:off x="74294" y="2385907"/>
          <a:ext cx="11995785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6412">
                  <a:extLst>
                    <a:ext uri="{9D8B030D-6E8A-4147-A177-3AD203B41FA5}">
                      <a16:colId xmlns:a16="http://schemas.microsoft.com/office/drawing/2014/main" val="2291288903"/>
                    </a:ext>
                  </a:extLst>
                </a:gridCol>
                <a:gridCol w="6053982">
                  <a:extLst>
                    <a:ext uri="{9D8B030D-6E8A-4147-A177-3AD203B41FA5}">
                      <a16:colId xmlns:a16="http://schemas.microsoft.com/office/drawing/2014/main" val="4001521776"/>
                    </a:ext>
                  </a:extLst>
                </a:gridCol>
                <a:gridCol w="2005391">
                  <a:extLst>
                    <a:ext uri="{9D8B030D-6E8A-4147-A177-3AD203B41FA5}">
                      <a16:colId xmlns:a16="http://schemas.microsoft.com/office/drawing/2014/main" val="505943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Year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594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Deep Convolutional GANs - DC-GANs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Use fully convolutional representation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207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Conditional 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Use conditional distribution to generate specific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962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Multiple ad-hoc methods,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hlinkClick r:id="rId3"/>
                        </a:rPr>
                        <a:t>Salimans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3"/>
                        </a:rPr>
                        <a:t>, et. al., 2016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Minibatch mixing, virtual batch normalization, and feature matching – Rarely used now days, beyond inception score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466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Wasserstein 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Use Wasserstein loss for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282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Two-time scale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Use different time scales for generator and discriminator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28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Spectral Normalization – SN-GANs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Scale weights so largest eigenvalue to 1.0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509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Self Attention GAN - SAGAN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Use an self attention mechanism to train latent space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576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Style-based 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Generator uses attention on specific parts of the latent space to create desired style, see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hlinkClick r:id="rId4"/>
                        </a:rPr>
                        <a:t>Karras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4"/>
                        </a:rPr>
                        <a:t>, et.al., 2018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for details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349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67547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53A2-598A-4DD7-80C8-28094305E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33498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The Convolutional GAN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79349-62D4-418A-8328-7BCEB2B0A95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15715"/>
            <a:ext cx="11691534" cy="557001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+mn-lt"/>
                <a:cs typeface="Segoe UI" panose="020B0502040204020203" pitchFamily="34" charset="0"/>
              </a:rPr>
              <a:t>The deep convolutional GAN is a fully convolutional  </a:t>
            </a:r>
          </a:p>
          <a:p>
            <a:r>
              <a:rPr lang="en-US" sz="2800" dirty="0">
                <a:latin typeface="+mn-lt"/>
                <a:cs typeface="Segoe UI" panose="020B0502040204020203" pitchFamily="34" charset="0"/>
              </a:rPr>
              <a:t>The deep convolutional GAN or DCGAN (</a:t>
            </a:r>
            <a:r>
              <a:rPr lang="en-US" sz="2800" dirty="0">
                <a:latin typeface="+mn-lt"/>
                <a:cs typeface="Segoe UI" panose="020B0502040204020203" pitchFamily="34" charset="0"/>
                <a:hlinkClick r:id="rId3"/>
              </a:rPr>
              <a:t>Radford, et. al. 2015</a:t>
            </a:r>
            <a:r>
              <a:rPr lang="en-US" sz="2800" dirty="0">
                <a:latin typeface="+mn-lt"/>
                <a:cs typeface="Segoe UI" panose="020B0502040204020203" pitchFamily="34" charset="0"/>
              </a:rPr>
              <a:t>) was a significant breakthrough in creating GAN model with stable training behavior </a:t>
            </a:r>
          </a:p>
          <a:p>
            <a:r>
              <a:rPr lang="en-US" sz="2800" dirty="0">
                <a:latin typeface="+mn-lt"/>
                <a:cs typeface="Segoe UI" panose="020B0502040204020203" pitchFamily="34" charset="0"/>
              </a:rPr>
              <a:t>Fully convolutional architecture – no fully connected layers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D7B71E-EDEB-4B53-84C0-F82D17144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0979" y="2918791"/>
            <a:ext cx="6626888" cy="386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541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53A2-598A-4DD7-80C8-28094305E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33498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The Convolutional GAN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79349-62D4-418A-8328-7BCEB2B0A95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15715"/>
            <a:ext cx="11691534" cy="58733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+mn-lt"/>
                <a:cs typeface="Segoe UI" panose="020B0502040204020203" pitchFamily="34" charset="0"/>
              </a:rPr>
              <a:t>Components of the DCGAN,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D7B71E-EDEB-4B53-84C0-F82D17144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026" y="2855895"/>
            <a:ext cx="6626888" cy="38615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E22AD8-4670-469C-B87C-81AB138FE0B0}"/>
              </a:ext>
            </a:extLst>
          </p:cNvPr>
          <p:cNvSpPr txBox="1"/>
          <p:nvPr/>
        </p:nvSpPr>
        <p:spPr>
          <a:xfrm>
            <a:off x="149747" y="3960520"/>
            <a:ext cx="1998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Random Input vector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EDD906-7AD5-4440-866A-E8AF736C2C95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147880" y="4334933"/>
            <a:ext cx="334063" cy="41086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Left Brace 9">
            <a:extLst>
              <a:ext uri="{FF2B5EF4-FFF2-40B4-BE49-F238E27FC236}">
                <a16:creationId xmlns:a16="http://schemas.microsoft.com/office/drawing/2014/main" id="{55D5A022-945E-4731-ABD9-34E124DCA2C7}"/>
              </a:ext>
            </a:extLst>
          </p:cNvPr>
          <p:cNvSpPr/>
          <p:nvPr/>
        </p:nvSpPr>
        <p:spPr>
          <a:xfrm rot="5400000">
            <a:off x="5452613" y="174744"/>
            <a:ext cx="328990" cy="4685090"/>
          </a:xfrm>
          <a:prstGeom prst="leftBrac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3A3803-3FCA-4DBD-A064-36D991AA310F}"/>
              </a:ext>
            </a:extLst>
          </p:cNvPr>
          <p:cNvSpPr txBox="1"/>
          <p:nvPr/>
        </p:nvSpPr>
        <p:spPr>
          <a:xfrm>
            <a:off x="3221398" y="2855895"/>
            <a:ext cx="473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Increasing image resolution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ABE183F-ED6D-4850-8031-50F20693014E}"/>
              </a:ext>
            </a:extLst>
          </p:cNvPr>
          <p:cNvCxnSpPr>
            <a:cxnSpLocks/>
          </p:cNvCxnSpPr>
          <p:nvPr/>
        </p:nvCxnSpPr>
        <p:spPr>
          <a:xfrm>
            <a:off x="3274563" y="3325091"/>
            <a:ext cx="468509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10D4A39-FC7F-47DA-9559-5972CE0812A8}"/>
              </a:ext>
            </a:extLst>
          </p:cNvPr>
          <p:cNvSpPr txBox="1"/>
          <p:nvPr/>
        </p:nvSpPr>
        <p:spPr>
          <a:xfrm>
            <a:off x="3274563" y="1804073"/>
            <a:ext cx="473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Convolutional Embedding Space</a:t>
            </a:r>
          </a:p>
        </p:txBody>
      </p:sp>
    </p:spTree>
    <p:extLst>
      <p:ext uri="{BB962C8B-B14F-4D97-AF65-F5344CB8AC3E}">
        <p14:creationId xmlns:p14="http://schemas.microsoft.com/office/powerpoint/2010/main" val="552309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1" grpId="0"/>
      <p:bldP spid="1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53A2-598A-4DD7-80C8-28094305E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33498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The Convolutional GAN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79349-62D4-418A-8328-7BCEB2B0A95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15715"/>
            <a:ext cx="11691534" cy="58733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dirty="0">
                <a:latin typeface="+mn-lt"/>
                <a:cs typeface="Segoe UI" panose="020B0502040204020203" pitchFamily="34" charset="0"/>
              </a:rPr>
              <a:t>Can perform linear mathematical operations on convolutional embedding space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82A70E-B00E-4D8C-9AC6-59F4D58C9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756" y="1821607"/>
            <a:ext cx="9461041" cy="491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178242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26897</TotalTime>
  <Words>2310</Words>
  <Application>Microsoft Office PowerPoint</Application>
  <PresentationFormat>Widescreen</PresentationFormat>
  <Paragraphs>393</Paragraphs>
  <Slides>42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Cambria Math</vt:lpstr>
      <vt:lpstr>Segoe UI</vt:lpstr>
      <vt:lpstr>TH Sarabun New</vt:lpstr>
      <vt:lpstr>2_Office Theme</vt:lpstr>
      <vt:lpstr>Generative Adversarial Networks</vt:lpstr>
      <vt:lpstr>Generative Adversarial Networks (Gan)</vt:lpstr>
      <vt:lpstr>Generative Adversarial Networks </vt:lpstr>
      <vt:lpstr>Introduction to GANs </vt:lpstr>
      <vt:lpstr>Generative Models and GANs</vt:lpstr>
      <vt:lpstr>Introduction to GANs </vt:lpstr>
      <vt:lpstr>PowerPoint Presentation</vt:lpstr>
      <vt:lpstr>Introduction to Game Theory for GAN Training</vt:lpstr>
      <vt:lpstr>A bit of game theory</vt:lpstr>
      <vt:lpstr>A bit of game theory</vt:lpstr>
      <vt:lpstr>A bit of game theory</vt:lpstr>
      <vt:lpstr>A bit of game theory</vt:lpstr>
      <vt:lpstr>A bit of game theory</vt:lpstr>
      <vt:lpstr>Training a Model using Game Theory</vt:lpstr>
      <vt:lpstr>Game theory and GAN training</vt:lpstr>
      <vt:lpstr>Game theory and GAN training</vt:lpstr>
      <vt:lpstr>Game theory and GAN training</vt:lpstr>
      <vt:lpstr>Game theory and GAN training</vt:lpstr>
      <vt:lpstr>Game theory and GAN training</vt:lpstr>
      <vt:lpstr>Game theory and GAN training</vt:lpstr>
      <vt:lpstr>PowerPoint Presentation</vt:lpstr>
      <vt:lpstr>PowerPoint Presentation</vt:lpstr>
      <vt:lpstr>Failure Modes of GAN Training</vt:lpstr>
      <vt:lpstr>Mode collapse</vt:lpstr>
      <vt:lpstr>Mode Collapse in GANs</vt:lpstr>
      <vt:lpstr>Solving Mode Collapse</vt:lpstr>
      <vt:lpstr>Convergence Failure in GANs</vt:lpstr>
      <vt:lpstr>Solving Convergence Failure</vt:lpstr>
      <vt:lpstr>Loss Functions for GANs</vt:lpstr>
      <vt:lpstr>Loss Functions for Training Neural Networks</vt:lpstr>
      <vt:lpstr>Kullback-Leibler Divergence (KL Divergence)</vt:lpstr>
      <vt:lpstr>Kullback-Leibler Divergence (KL Divergence)</vt:lpstr>
      <vt:lpstr>The Wasserstein distance metric</vt:lpstr>
      <vt:lpstr>The Wasserstein distance metric</vt:lpstr>
      <vt:lpstr>The Wasserstein distance metric</vt:lpstr>
      <vt:lpstr>PowerPoint Presentation</vt:lpstr>
      <vt:lpstr>The Wasserstein distance metric</vt:lpstr>
      <vt:lpstr>Advances in GAN Models</vt:lpstr>
      <vt:lpstr>Approaches to improved GAN training</vt:lpstr>
      <vt:lpstr>The Convolutional GAN</vt:lpstr>
      <vt:lpstr>The Convolutional GAN</vt:lpstr>
      <vt:lpstr>The Convolutional GAN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Derek Hoiem</dc:creator>
  <cp:lastModifiedBy>Praisan Padungweang</cp:lastModifiedBy>
  <cp:revision>311</cp:revision>
  <dcterms:created xsi:type="dcterms:W3CDTF">2009-12-16T02:55:56Z</dcterms:created>
  <dcterms:modified xsi:type="dcterms:W3CDTF">2025-02-27T06:10:37Z</dcterms:modified>
</cp:coreProperties>
</file>